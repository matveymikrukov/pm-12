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51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Host Grotesk Medium" panose="020B0604020202020204" charset="0"/>
      <p:regular r:id="rId13"/>
    </p:embeddedFont>
    <p:embeddedFont>
      <p:font typeface="Roboto" panose="02000000000000000000" pitchFamily="2" charset="0"/>
      <p:regular r:id="rId14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8097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44DB51-4FD8-3010-6711-92E3BAF30F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081B3F3-2663-3D60-57F6-CD926E02E2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E7E3CE7-C79C-1AC1-E604-AC806FEE0E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FD6DB-8B98-40A1-A8AD-4655F021BF84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F69C23A-98F7-978F-92FD-F5245E4EA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1DC6028-577B-FCD0-751F-B9BC9D8B4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360FA-F1A6-4D2A-822D-36D5DA1EA1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185611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083195-F359-4400-A359-68E2F65AA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41B6261-A766-9D4B-1F55-7B5CDEE36B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541ECC3-5CD1-775B-F400-CE6178C5B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FD6DB-8B98-40A1-A8AD-4655F021BF84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7C91B05-E12D-4BEF-4C89-D75D929F9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5D64600-E271-13D8-2B45-B14384AB9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360FA-F1A6-4D2A-822D-36D5DA1EA1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236678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542428-9A7B-157A-FBF5-2F7146CE49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C6E8A32-24B9-58A3-0A7C-1AD062E874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6BEF6FB-F99B-A1E8-A3C4-B277D5D5D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FD6DB-8B98-40A1-A8AD-4655F021BF84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D09A91A-3B1A-1290-3FEC-8A675A345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C368A7E-5590-4A52-1223-38BB9BA07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360FA-F1A6-4D2A-822D-36D5DA1EA1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0717885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CE0285-D7F9-0366-3115-31B461E02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ADC6E19-19E2-116F-B157-77F3AF09E2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0334588-8FF9-E242-62C2-D1601E50D0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0118237-F65D-91EB-3E2B-FAB2AEF777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FD6DB-8B98-40A1-A8AD-4655F021BF84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B4AEFA0-584B-26D1-FD0E-DFD5A4730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4B420AA-8EBD-17EE-F420-8487206CB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360FA-F1A6-4D2A-822D-36D5DA1EA1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1863135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683A8B-DDCC-C7FC-2797-92D2F101B4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B64631D-BC1C-EA33-E624-6914DAD65E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C6F0C93-F564-2053-817C-C98DE0EF76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A710B7FC-C689-6379-35D9-1105AB630F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FB7CFDCB-43AB-83A6-3847-E19D611CC8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0D6E0E2D-AE3C-7C82-E694-C1D15930F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FD6DB-8B98-40A1-A8AD-4655F021BF84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4D3A1007-F25F-DAEB-8E7C-ADBBB6077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78EDAD74-04B1-B635-D11B-C28B5F575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360FA-F1A6-4D2A-822D-36D5DA1EA1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921727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F46BEE-D7AC-B78E-B397-BA7B1538D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D925726-CCE7-5824-A4DE-7B50A31D3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FD6DB-8B98-40A1-A8AD-4655F021BF84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A9BC071F-B96E-DE2F-2210-1C6DBEA8A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2636471-8148-F2D2-A45B-A1D03F6A5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360FA-F1A6-4D2A-822D-36D5DA1EA1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8829566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5F68EE6-4FA2-0C6C-3B2B-30734CB32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FD6DB-8B98-40A1-A8AD-4655F021BF84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C5DEEBF0-6BCE-472A-F4D6-5FAC99E9D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8E85D62-033E-8971-5D3A-8935D3BF6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360FA-F1A6-4D2A-822D-36D5DA1EA1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4136407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E089A2-39E4-0EBE-42F9-EB0AD230C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A48AA58-A2E5-A7F3-347E-7114FD9DD9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343ACA3-95DA-5D11-E812-117A918569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74614C9-AF06-319E-D454-EDEDC6147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FD6DB-8B98-40A1-A8AD-4655F021BF84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60ABBE6-CFB0-E369-3B75-DD8F4DF76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3EF4B2B-CA05-9951-9740-7CE2D20E9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360FA-F1A6-4D2A-822D-36D5DA1EA1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2812660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21B28C-6973-8B6A-702B-68E674F78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D6BFE92-CB38-C1E2-FA36-9A60B97EF2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0ADE734-38D4-7A0D-C846-3D692F9431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B254E23-FB9B-57F5-221E-3C9D57EBA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FD6DB-8B98-40A1-A8AD-4655F021BF84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F5BBE64-A22A-B4D7-07CF-4B41CD652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1FB16B7-021D-DDEF-9A89-9CF4D1F64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360FA-F1A6-4D2A-822D-36D5DA1EA1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0005264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17741F-7EFE-90D4-99D0-38A9CB2C67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E5D49ED-952D-A313-D456-FF9B54E6B2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6613798-69B9-9412-58B2-9FC48D334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FD6DB-8B98-40A1-A8AD-4655F021BF84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6FE6751-827F-F455-17B6-D4DAE8440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BF038BF-B283-C49A-D675-64B447D0D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360FA-F1A6-4D2A-822D-36D5DA1EA1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196931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B5F51534-1B41-9785-1F2F-DBFB128898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E8AA457-212D-CA2D-D659-EFBBE9870E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AA977BA-7D7A-C4E1-2F35-9AFDF34A6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FD6DB-8B98-40A1-A8AD-4655F021BF84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F18FE29-AD17-0223-6E93-A212F8E5D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15752A2-78A6-5C9A-7E0F-C7FA3BF04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360FA-F1A6-4D2A-822D-36D5DA1EA1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138040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3743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CA8847-A661-FE32-DF44-FFC9EFF31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AE3030A-5350-56B6-9023-7C1F170A7A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94D7233-F123-C9BB-E8BD-9C8FDA4D70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EFD6DB-8B98-40A1-A8AD-4655F021BF84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E746F00-46F7-A6E2-8E82-A96871BEC2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2C15884-4D4F-32B1-F625-45D938ECEB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0360FA-F1A6-4D2A-822D-36D5DA1EA1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57283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0"/>
          <p:cNvSpPr/>
          <p:nvPr/>
        </p:nvSpPr>
        <p:spPr>
          <a:xfrm>
            <a:off x="480060" y="244026"/>
            <a:ext cx="8661654" cy="146763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>
                <a:latin typeface="+mj-lt"/>
                <a:ea typeface="+mj-ea"/>
                <a:cs typeface="+mj-cs"/>
              </a:rPr>
              <a:t>Отчёт по учебной практике</a:t>
            </a:r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60" y="1940245"/>
            <a:ext cx="2606040" cy="13716"/>
          </a:xfrm>
          <a:custGeom>
            <a:avLst/>
            <a:gdLst>
              <a:gd name="csX0" fmla="*/ 0 w 2606040"/>
              <a:gd name="csY0" fmla="*/ 0 h 13716"/>
              <a:gd name="csX1" fmla="*/ 625450 w 2606040"/>
              <a:gd name="csY1" fmla="*/ 0 h 13716"/>
              <a:gd name="csX2" fmla="*/ 1224839 w 2606040"/>
              <a:gd name="csY2" fmla="*/ 0 h 13716"/>
              <a:gd name="csX3" fmla="*/ 1824228 w 2606040"/>
              <a:gd name="csY3" fmla="*/ 0 h 13716"/>
              <a:gd name="csX4" fmla="*/ 2606040 w 2606040"/>
              <a:gd name="csY4" fmla="*/ 0 h 13716"/>
              <a:gd name="csX5" fmla="*/ 2606040 w 2606040"/>
              <a:gd name="csY5" fmla="*/ 13716 h 13716"/>
              <a:gd name="csX6" fmla="*/ 1902409 w 2606040"/>
              <a:gd name="csY6" fmla="*/ 13716 h 13716"/>
              <a:gd name="csX7" fmla="*/ 1276960 w 2606040"/>
              <a:gd name="csY7" fmla="*/ 13716 h 13716"/>
              <a:gd name="csX8" fmla="*/ 677570 w 2606040"/>
              <a:gd name="csY8" fmla="*/ 13716 h 13716"/>
              <a:gd name="csX9" fmla="*/ 0 w 2606040"/>
              <a:gd name="csY9" fmla="*/ 13716 h 13716"/>
              <a:gd name="csX10" fmla="*/ 0 w 2606040"/>
              <a:gd name="csY10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606040" h="13716" fill="none" extrusionOk="0">
                <a:moveTo>
                  <a:pt x="0" y="0"/>
                </a:moveTo>
                <a:cubicBezTo>
                  <a:pt x="266776" y="-600"/>
                  <a:pt x="322756" y="3201"/>
                  <a:pt x="625450" y="0"/>
                </a:cubicBezTo>
                <a:cubicBezTo>
                  <a:pt x="928144" y="-3201"/>
                  <a:pt x="968141" y="9269"/>
                  <a:pt x="1224839" y="0"/>
                </a:cubicBezTo>
                <a:cubicBezTo>
                  <a:pt x="1481537" y="-9269"/>
                  <a:pt x="1569059" y="21947"/>
                  <a:pt x="1824228" y="0"/>
                </a:cubicBezTo>
                <a:cubicBezTo>
                  <a:pt x="2079397" y="-21947"/>
                  <a:pt x="2326053" y="-10194"/>
                  <a:pt x="2606040" y="0"/>
                </a:cubicBezTo>
                <a:cubicBezTo>
                  <a:pt x="2605690" y="5728"/>
                  <a:pt x="2605650" y="7624"/>
                  <a:pt x="2606040" y="13716"/>
                </a:cubicBezTo>
                <a:cubicBezTo>
                  <a:pt x="2256758" y="26838"/>
                  <a:pt x="2173673" y="-17450"/>
                  <a:pt x="1902409" y="13716"/>
                </a:cubicBezTo>
                <a:cubicBezTo>
                  <a:pt x="1631145" y="44882"/>
                  <a:pt x="1461378" y="894"/>
                  <a:pt x="1276960" y="13716"/>
                </a:cubicBezTo>
                <a:cubicBezTo>
                  <a:pt x="1092542" y="26538"/>
                  <a:pt x="890442" y="8641"/>
                  <a:pt x="677570" y="13716"/>
                </a:cubicBezTo>
                <a:cubicBezTo>
                  <a:pt x="464698" y="18792"/>
                  <a:pt x="187648" y="31265"/>
                  <a:pt x="0" y="13716"/>
                </a:cubicBezTo>
                <a:cubicBezTo>
                  <a:pt x="-302" y="10335"/>
                  <a:pt x="417" y="4724"/>
                  <a:pt x="0" y="0"/>
                </a:cubicBezTo>
                <a:close/>
              </a:path>
              <a:path w="2606040" h="13716" stroke="0" extrusionOk="0">
                <a:moveTo>
                  <a:pt x="0" y="0"/>
                </a:moveTo>
                <a:cubicBezTo>
                  <a:pt x="197231" y="3803"/>
                  <a:pt x="358914" y="-9291"/>
                  <a:pt x="599389" y="0"/>
                </a:cubicBezTo>
                <a:cubicBezTo>
                  <a:pt x="839864" y="9291"/>
                  <a:pt x="979371" y="8509"/>
                  <a:pt x="1303020" y="0"/>
                </a:cubicBezTo>
                <a:cubicBezTo>
                  <a:pt x="1626669" y="-8509"/>
                  <a:pt x="1726300" y="7440"/>
                  <a:pt x="1876349" y="0"/>
                </a:cubicBezTo>
                <a:cubicBezTo>
                  <a:pt x="2026398" y="-7440"/>
                  <a:pt x="2430712" y="17957"/>
                  <a:pt x="2606040" y="0"/>
                </a:cubicBezTo>
                <a:cubicBezTo>
                  <a:pt x="2606569" y="5071"/>
                  <a:pt x="2606315" y="7437"/>
                  <a:pt x="2606040" y="13716"/>
                </a:cubicBezTo>
                <a:cubicBezTo>
                  <a:pt x="2393024" y="-2332"/>
                  <a:pt x="2191161" y="34687"/>
                  <a:pt x="1980590" y="13716"/>
                </a:cubicBezTo>
                <a:cubicBezTo>
                  <a:pt x="1770019" y="-7255"/>
                  <a:pt x="1476440" y="31542"/>
                  <a:pt x="1276960" y="13716"/>
                </a:cubicBezTo>
                <a:cubicBezTo>
                  <a:pt x="1077480" y="-4110"/>
                  <a:pt x="880988" y="37553"/>
                  <a:pt x="651510" y="13716"/>
                </a:cubicBezTo>
                <a:cubicBezTo>
                  <a:pt x="422032" y="-10121"/>
                  <a:pt x="130744" y="-6519"/>
                  <a:pt x="0" y="13716"/>
                </a:cubicBezTo>
                <a:cubicBezTo>
                  <a:pt x="198" y="8947"/>
                  <a:pt x="304" y="52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480060" y="2154674"/>
            <a:ext cx="8413789" cy="24905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400" b="1" dirty="0"/>
              <a:t>ПМ.12</a:t>
            </a:r>
            <a:r>
              <a:rPr lang="en-US" sz="1400" dirty="0"/>
              <a:t> — </a:t>
            </a:r>
            <a:r>
              <a:rPr lang="en-US" sz="1400" dirty="0" err="1"/>
              <a:t>Консультант</a:t>
            </a:r>
            <a:r>
              <a:rPr lang="en-US" sz="1400" dirty="0"/>
              <a:t> в </a:t>
            </a:r>
            <a:r>
              <a:rPr lang="en-US" sz="1400" dirty="0" err="1"/>
              <a:t>области</a:t>
            </a:r>
            <a:r>
              <a:rPr lang="en-US" sz="1400" dirty="0"/>
              <a:t> </a:t>
            </a:r>
            <a:r>
              <a:rPr lang="en-US" sz="1400" dirty="0" err="1"/>
              <a:t>развития</a:t>
            </a:r>
            <a:r>
              <a:rPr lang="en-US" sz="1400" dirty="0"/>
              <a:t> </a:t>
            </a:r>
            <a:r>
              <a:rPr lang="en-US" sz="1400" dirty="0" err="1"/>
              <a:t>цифровой</a:t>
            </a:r>
            <a:r>
              <a:rPr lang="en-US" sz="1400" dirty="0"/>
              <a:t> </a:t>
            </a:r>
            <a:r>
              <a:rPr lang="en-US" sz="1400" dirty="0" err="1"/>
              <a:t>грамотности</a:t>
            </a:r>
            <a:r>
              <a:rPr lang="en-US" sz="1400" dirty="0"/>
              <a:t> </a:t>
            </a:r>
            <a:r>
              <a:rPr lang="en-US" sz="1400" dirty="0" err="1"/>
              <a:t>населения</a:t>
            </a:r>
            <a:r>
              <a:rPr lang="en-US" sz="1400" dirty="0"/>
              <a:t> (</a:t>
            </a:r>
            <a:r>
              <a:rPr lang="en-US" sz="1400" dirty="0" err="1"/>
              <a:t>цифровой</a:t>
            </a:r>
            <a:r>
              <a:rPr lang="en-US" sz="1400" dirty="0"/>
              <a:t> </a:t>
            </a:r>
            <a:r>
              <a:rPr lang="en-US" sz="1400" dirty="0" err="1"/>
              <a:t>куратор</a:t>
            </a:r>
            <a:r>
              <a:rPr lang="en-US" sz="1400" dirty="0"/>
              <a:t>)</a:t>
            </a:r>
          </a:p>
          <a:p>
            <a:pPr marL="0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400" dirty="0" err="1"/>
              <a:t>Студент</a:t>
            </a:r>
            <a:r>
              <a:rPr lang="en-US" sz="1400" dirty="0"/>
              <a:t>: </a:t>
            </a:r>
            <a:r>
              <a:rPr lang="en-US" sz="1400" b="1" dirty="0"/>
              <a:t>Микрюков Матвей </a:t>
            </a:r>
            <a:r>
              <a:rPr lang="en-US" sz="1400" b="1" dirty="0" err="1"/>
              <a:t>Иванович</a:t>
            </a:r>
            <a:r>
              <a:rPr lang="en-US" sz="1400" dirty="0"/>
              <a:t> · </a:t>
            </a:r>
            <a:r>
              <a:rPr lang="en-US" sz="1400" dirty="0" err="1"/>
              <a:t>Группа</a:t>
            </a:r>
            <a:r>
              <a:rPr lang="en-US" sz="1400" dirty="0"/>
              <a:t> 24п-1</a:t>
            </a:r>
          </a:p>
          <a:p>
            <a:pPr marL="0" indent="-228600">
              <a:lnSpc>
                <a:spcPct val="90000"/>
              </a:lnSpc>
              <a:spcAft>
                <a:spcPts val="1250"/>
              </a:spcAft>
              <a:buFont typeface="Arial" panose="020B0604020202020204" pitchFamily="34" charset="0"/>
              <a:buChar char="•"/>
            </a:pPr>
            <a:r>
              <a:rPr lang="en-US" sz="1400" dirty="0" err="1"/>
              <a:t>Специальность</a:t>
            </a:r>
            <a:r>
              <a:rPr lang="en-US" sz="1400" dirty="0"/>
              <a:t>: 09.02.07 </a:t>
            </a:r>
            <a:r>
              <a:rPr lang="en-US" sz="1400" dirty="0" err="1"/>
              <a:t>Информационные</a:t>
            </a:r>
            <a:r>
              <a:rPr lang="en-US" sz="1400" dirty="0"/>
              <a:t> </a:t>
            </a:r>
            <a:r>
              <a:rPr lang="en-US" sz="1400" dirty="0" err="1"/>
              <a:t>системы</a:t>
            </a:r>
            <a:r>
              <a:rPr lang="en-US" sz="1400" dirty="0"/>
              <a:t> и </a:t>
            </a:r>
            <a:r>
              <a:rPr lang="en-US" sz="1400" dirty="0" err="1"/>
              <a:t>программирование</a:t>
            </a:r>
            <a:endParaRPr lang="en-US" sz="1400" dirty="0"/>
          </a:p>
          <a:p>
            <a:pPr marL="0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400" dirty="0" err="1"/>
              <a:t>Организация</a:t>
            </a:r>
            <a:r>
              <a:rPr lang="en-US" sz="1400" dirty="0"/>
              <a:t>: КОГПОБУ «</a:t>
            </a:r>
            <a:r>
              <a:rPr lang="en-US" sz="1400" dirty="0" err="1"/>
              <a:t>Слободской</a:t>
            </a:r>
            <a:r>
              <a:rPr lang="en-US" sz="1400" dirty="0"/>
              <a:t> </a:t>
            </a:r>
            <a:r>
              <a:rPr lang="en-US" sz="1400" dirty="0" err="1"/>
              <a:t>колледж</a:t>
            </a:r>
            <a:r>
              <a:rPr lang="en-US" sz="1400" dirty="0"/>
              <a:t> </a:t>
            </a:r>
            <a:r>
              <a:rPr lang="en-US" sz="1400" dirty="0" err="1"/>
              <a:t>педагогики</a:t>
            </a:r>
            <a:r>
              <a:rPr lang="en-US" sz="1400" dirty="0"/>
              <a:t> и </a:t>
            </a:r>
            <a:r>
              <a:rPr lang="en-US" sz="1400" dirty="0" err="1"/>
              <a:t>социальных</a:t>
            </a:r>
            <a:r>
              <a:rPr lang="en-US" sz="1400" dirty="0"/>
              <a:t> </a:t>
            </a:r>
            <a:r>
              <a:rPr lang="en-US" sz="1400" dirty="0" err="1"/>
              <a:t>отношений</a:t>
            </a:r>
            <a:r>
              <a:rPr lang="en-US" sz="1400" dirty="0"/>
              <a:t>» · 2026 г.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Полилиния: фигура 25">
            <a:extLst>
              <a:ext uri="{FF2B5EF4-FFF2-40B4-BE49-F238E27FC236}">
                <a16:creationId xmlns:a16="http://schemas.microsoft.com/office/drawing/2014/main" id="{3BCE19A3-7CDE-C9F2-D2C7-3CE03784B463}"/>
              </a:ext>
            </a:extLst>
          </p:cNvPr>
          <p:cNvSpPr/>
          <p:nvPr/>
        </p:nvSpPr>
        <p:spPr>
          <a:xfrm>
            <a:off x="-138649" y="2145803"/>
            <a:ext cx="9347963" cy="2403872"/>
          </a:xfrm>
          <a:custGeom>
            <a:avLst/>
            <a:gdLst>
              <a:gd name="csX0" fmla="*/ 694306 w 9347963"/>
              <a:gd name="csY0" fmla="*/ 1379116 h 2403872"/>
              <a:gd name="csX1" fmla="*/ 4580195 w 9347963"/>
              <a:gd name="csY1" fmla="*/ 1379116 h 2403872"/>
              <a:gd name="csX2" fmla="*/ 4639733 w 9347963"/>
              <a:gd name="csY2" fmla="*/ 1438654 h 2403872"/>
              <a:gd name="csX3" fmla="*/ 4639733 w 9347963"/>
              <a:gd name="csY3" fmla="*/ 1747949 h 2403872"/>
              <a:gd name="csX4" fmla="*/ 4781491 w 9347963"/>
              <a:gd name="csY4" fmla="*/ 1747949 h 2403872"/>
              <a:gd name="csX5" fmla="*/ 4781491 w 9347963"/>
              <a:gd name="csY5" fmla="*/ 1438654 h 2403872"/>
              <a:gd name="csX6" fmla="*/ 4841029 w 9347963"/>
              <a:gd name="csY6" fmla="*/ 1379116 h 2403872"/>
              <a:gd name="csX7" fmla="*/ 8726918 w 9347963"/>
              <a:gd name="csY7" fmla="*/ 1379116 h 2403872"/>
              <a:gd name="csX8" fmla="*/ 8786456 w 9347963"/>
              <a:gd name="csY8" fmla="*/ 1438654 h 2403872"/>
              <a:gd name="csX9" fmla="*/ 8786456 w 9347963"/>
              <a:gd name="csY9" fmla="*/ 2344334 h 2403872"/>
              <a:gd name="csX10" fmla="*/ 8726918 w 9347963"/>
              <a:gd name="csY10" fmla="*/ 2403872 h 2403872"/>
              <a:gd name="csX11" fmla="*/ 4841029 w 9347963"/>
              <a:gd name="csY11" fmla="*/ 2403872 h 2403872"/>
              <a:gd name="csX12" fmla="*/ 4781491 w 9347963"/>
              <a:gd name="csY12" fmla="*/ 2344334 h 2403872"/>
              <a:gd name="csX13" fmla="*/ 4781491 w 9347963"/>
              <a:gd name="csY13" fmla="*/ 2035038 h 2403872"/>
              <a:gd name="csX14" fmla="*/ 4639733 w 9347963"/>
              <a:gd name="csY14" fmla="*/ 2035038 h 2403872"/>
              <a:gd name="csX15" fmla="*/ 4639733 w 9347963"/>
              <a:gd name="csY15" fmla="*/ 2344334 h 2403872"/>
              <a:gd name="csX16" fmla="*/ 4580195 w 9347963"/>
              <a:gd name="csY16" fmla="*/ 2403872 h 2403872"/>
              <a:gd name="csX17" fmla="*/ 694306 w 9347963"/>
              <a:gd name="csY17" fmla="*/ 2403872 h 2403872"/>
              <a:gd name="csX18" fmla="*/ 634768 w 9347963"/>
              <a:gd name="csY18" fmla="*/ 2344334 h 2403872"/>
              <a:gd name="csX19" fmla="*/ 634768 w 9347963"/>
              <a:gd name="csY19" fmla="*/ 2035038 h 2403872"/>
              <a:gd name="csX20" fmla="*/ 47849 w 9347963"/>
              <a:gd name="csY20" fmla="*/ 2035038 h 2403872"/>
              <a:gd name="csX21" fmla="*/ 0 w 9347963"/>
              <a:gd name="csY21" fmla="*/ 1987189 h 2403872"/>
              <a:gd name="csX22" fmla="*/ 0 w 9347963"/>
              <a:gd name="csY22" fmla="*/ 1795798 h 2403872"/>
              <a:gd name="csX23" fmla="*/ 47849 w 9347963"/>
              <a:gd name="csY23" fmla="*/ 1747949 h 2403872"/>
              <a:gd name="csX24" fmla="*/ 634768 w 9347963"/>
              <a:gd name="csY24" fmla="*/ 1747949 h 2403872"/>
              <a:gd name="csX25" fmla="*/ 634768 w 9347963"/>
              <a:gd name="csY25" fmla="*/ 1438654 h 2403872"/>
              <a:gd name="csX26" fmla="*/ 694306 w 9347963"/>
              <a:gd name="csY26" fmla="*/ 1379116 h 2403872"/>
              <a:gd name="csX27" fmla="*/ 694311 w 9347963"/>
              <a:gd name="csY27" fmla="*/ 0 h 2403872"/>
              <a:gd name="csX28" fmla="*/ 3197951 w 9347963"/>
              <a:gd name="csY28" fmla="*/ 0 h 2403872"/>
              <a:gd name="csX29" fmla="*/ 3257493 w 9347963"/>
              <a:gd name="csY29" fmla="*/ 59542 h 2403872"/>
              <a:gd name="csX30" fmla="*/ 3257493 w 9347963"/>
              <a:gd name="csY30" fmla="*/ 453033 h 2403872"/>
              <a:gd name="csX31" fmla="*/ 3399251 w 9347963"/>
              <a:gd name="csY31" fmla="*/ 453033 h 2403872"/>
              <a:gd name="csX32" fmla="*/ 3399251 w 9347963"/>
              <a:gd name="csY32" fmla="*/ 59542 h 2403872"/>
              <a:gd name="csX33" fmla="*/ 3458793 w 9347963"/>
              <a:gd name="csY33" fmla="*/ 0 h 2403872"/>
              <a:gd name="csX34" fmla="*/ 5962432 w 9347963"/>
              <a:gd name="csY34" fmla="*/ 0 h 2403872"/>
              <a:gd name="csX35" fmla="*/ 6021974 w 9347963"/>
              <a:gd name="csY35" fmla="*/ 59542 h 2403872"/>
              <a:gd name="csX36" fmla="*/ 6021974 w 9347963"/>
              <a:gd name="csY36" fmla="*/ 453032 h 2403872"/>
              <a:gd name="csX37" fmla="*/ 6163732 w 9347963"/>
              <a:gd name="csY37" fmla="*/ 453032 h 2403872"/>
              <a:gd name="csX38" fmla="*/ 6163732 w 9347963"/>
              <a:gd name="csY38" fmla="*/ 59542 h 2403872"/>
              <a:gd name="csX39" fmla="*/ 6223274 w 9347963"/>
              <a:gd name="csY39" fmla="*/ 0 h 2403872"/>
              <a:gd name="csX40" fmla="*/ 8726914 w 9347963"/>
              <a:gd name="csY40" fmla="*/ 0 h 2403872"/>
              <a:gd name="csX41" fmla="*/ 8786456 w 9347963"/>
              <a:gd name="csY41" fmla="*/ 59542 h 2403872"/>
              <a:gd name="csX42" fmla="*/ 8786456 w 9347963"/>
              <a:gd name="csY42" fmla="*/ 453032 h 2403872"/>
              <a:gd name="csX43" fmla="*/ 9300114 w 9347963"/>
              <a:gd name="csY43" fmla="*/ 453032 h 2403872"/>
              <a:gd name="csX44" fmla="*/ 9347963 w 9347963"/>
              <a:gd name="csY44" fmla="*/ 500881 h 2403872"/>
              <a:gd name="csX45" fmla="*/ 9347963 w 9347963"/>
              <a:gd name="csY45" fmla="*/ 692272 h 2403872"/>
              <a:gd name="csX46" fmla="*/ 9300114 w 9347963"/>
              <a:gd name="csY46" fmla="*/ 740121 h 2403872"/>
              <a:gd name="csX47" fmla="*/ 8786456 w 9347963"/>
              <a:gd name="csY47" fmla="*/ 740121 h 2403872"/>
              <a:gd name="csX48" fmla="*/ 8786456 w 9347963"/>
              <a:gd name="csY48" fmla="*/ 1177815 h 2403872"/>
              <a:gd name="csX49" fmla="*/ 8726914 w 9347963"/>
              <a:gd name="csY49" fmla="*/ 1237357 h 2403872"/>
              <a:gd name="csX50" fmla="*/ 6223274 w 9347963"/>
              <a:gd name="csY50" fmla="*/ 1237357 h 2403872"/>
              <a:gd name="csX51" fmla="*/ 6163732 w 9347963"/>
              <a:gd name="csY51" fmla="*/ 1177815 h 2403872"/>
              <a:gd name="csX52" fmla="*/ 6163732 w 9347963"/>
              <a:gd name="csY52" fmla="*/ 740121 h 2403872"/>
              <a:gd name="csX53" fmla="*/ 6021974 w 9347963"/>
              <a:gd name="csY53" fmla="*/ 740121 h 2403872"/>
              <a:gd name="csX54" fmla="*/ 6021974 w 9347963"/>
              <a:gd name="csY54" fmla="*/ 1177815 h 2403872"/>
              <a:gd name="csX55" fmla="*/ 5962432 w 9347963"/>
              <a:gd name="csY55" fmla="*/ 1237357 h 2403872"/>
              <a:gd name="csX56" fmla="*/ 3458793 w 9347963"/>
              <a:gd name="csY56" fmla="*/ 1237357 h 2403872"/>
              <a:gd name="csX57" fmla="*/ 3399251 w 9347963"/>
              <a:gd name="csY57" fmla="*/ 1177815 h 2403872"/>
              <a:gd name="csX58" fmla="*/ 3399251 w 9347963"/>
              <a:gd name="csY58" fmla="*/ 740122 h 2403872"/>
              <a:gd name="csX59" fmla="*/ 3257493 w 9347963"/>
              <a:gd name="csY59" fmla="*/ 740122 h 2403872"/>
              <a:gd name="csX60" fmla="*/ 3257493 w 9347963"/>
              <a:gd name="csY60" fmla="*/ 1177815 h 2403872"/>
              <a:gd name="csX61" fmla="*/ 3197951 w 9347963"/>
              <a:gd name="csY61" fmla="*/ 1237357 h 2403872"/>
              <a:gd name="csX62" fmla="*/ 694311 w 9347963"/>
              <a:gd name="csY62" fmla="*/ 1237357 h 2403872"/>
              <a:gd name="csX63" fmla="*/ 634769 w 9347963"/>
              <a:gd name="csY63" fmla="*/ 1177815 h 2403872"/>
              <a:gd name="csX64" fmla="*/ 634769 w 9347963"/>
              <a:gd name="csY64" fmla="*/ 59542 h 2403872"/>
              <a:gd name="csX65" fmla="*/ 694311 w 9347963"/>
              <a:gd name="csY65" fmla="*/ 0 h 24038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</a:cxnLst>
            <a:rect l="l" t="t" r="r" b="b"/>
            <a:pathLst>
              <a:path w="9347963" h="2403872">
                <a:moveTo>
                  <a:pt x="694306" y="1379116"/>
                </a:moveTo>
                <a:lnTo>
                  <a:pt x="4580195" y="1379116"/>
                </a:lnTo>
                <a:cubicBezTo>
                  <a:pt x="4613077" y="1379116"/>
                  <a:pt x="4639733" y="1405772"/>
                  <a:pt x="4639733" y="1438654"/>
                </a:cubicBezTo>
                <a:lnTo>
                  <a:pt x="4639733" y="1747949"/>
                </a:lnTo>
                <a:lnTo>
                  <a:pt x="4781491" y="1747949"/>
                </a:lnTo>
                <a:lnTo>
                  <a:pt x="4781491" y="1438654"/>
                </a:lnTo>
                <a:cubicBezTo>
                  <a:pt x="4781491" y="1405772"/>
                  <a:pt x="4808147" y="1379116"/>
                  <a:pt x="4841029" y="1379116"/>
                </a:cubicBezTo>
                <a:lnTo>
                  <a:pt x="8726918" y="1379116"/>
                </a:lnTo>
                <a:cubicBezTo>
                  <a:pt x="8759800" y="1379116"/>
                  <a:pt x="8786456" y="1405772"/>
                  <a:pt x="8786456" y="1438654"/>
                </a:cubicBezTo>
                <a:lnTo>
                  <a:pt x="8786456" y="2344334"/>
                </a:lnTo>
                <a:cubicBezTo>
                  <a:pt x="8786456" y="2377216"/>
                  <a:pt x="8759800" y="2403872"/>
                  <a:pt x="8726918" y="2403872"/>
                </a:cubicBezTo>
                <a:lnTo>
                  <a:pt x="4841029" y="2403872"/>
                </a:lnTo>
                <a:cubicBezTo>
                  <a:pt x="4808147" y="2403872"/>
                  <a:pt x="4781491" y="2377216"/>
                  <a:pt x="4781491" y="2344334"/>
                </a:cubicBezTo>
                <a:lnTo>
                  <a:pt x="4781491" y="2035038"/>
                </a:lnTo>
                <a:lnTo>
                  <a:pt x="4639733" y="2035038"/>
                </a:lnTo>
                <a:lnTo>
                  <a:pt x="4639733" y="2344334"/>
                </a:lnTo>
                <a:cubicBezTo>
                  <a:pt x="4639733" y="2377216"/>
                  <a:pt x="4613077" y="2403872"/>
                  <a:pt x="4580195" y="2403872"/>
                </a:cubicBezTo>
                <a:lnTo>
                  <a:pt x="694306" y="2403872"/>
                </a:lnTo>
                <a:cubicBezTo>
                  <a:pt x="661424" y="2403872"/>
                  <a:pt x="634768" y="2377216"/>
                  <a:pt x="634768" y="2344334"/>
                </a:cubicBezTo>
                <a:lnTo>
                  <a:pt x="634768" y="2035038"/>
                </a:lnTo>
                <a:lnTo>
                  <a:pt x="47849" y="2035038"/>
                </a:lnTo>
                <a:cubicBezTo>
                  <a:pt x="21423" y="2035038"/>
                  <a:pt x="0" y="2013615"/>
                  <a:pt x="0" y="1987189"/>
                </a:cubicBezTo>
                <a:lnTo>
                  <a:pt x="0" y="1795798"/>
                </a:lnTo>
                <a:cubicBezTo>
                  <a:pt x="0" y="1769372"/>
                  <a:pt x="21423" y="1747949"/>
                  <a:pt x="47849" y="1747949"/>
                </a:cubicBezTo>
                <a:lnTo>
                  <a:pt x="634768" y="1747949"/>
                </a:lnTo>
                <a:lnTo>
                  <a:pt x="634768" y="1438654"/>
                </a:lnTo>
                <a:cubicBezTo>
                  <a:pt x="634768" y="1405772"/>
                  <a:pt x="661424" y="1379116"/>
                  <a:pt x="694306" y="1379116"/>
                </a:cubicBezTo>
                <a:close/>
                <a:moveTo>
                  <a:pt x="694311" y="0"/>
                </a:moveTo>
                <a:lnTo>
                  <a:pt x="3197951" y="0"/>
                </a:lnTo>
                <a:cubicBezTo>
                  <a:pt x="3230835" y="0"/>
                  <a:pt x="3257493" y="26658"/>
                  <a:pt x="3257493" y="59542"/>
                </a:cubicBezTo>
                <a:lnTo>
                  <a:pt x="3257493" y="453033"/>
                </a:lnTo>
                <a:lnTo>
                  <a:pt x="3399251" y="453033"/>
                </a:lnTo>
                <a:lnTo>
                  <a:pt x="3399251" y="59542"/>
                </a:lnTo>
                <a:cubicBezTo>
                  <a:pt x="3399251" y="26658"/>
                  <a:pt x="3425909" y="0"/>
                  <a:pt x="3458793" y="0"/>
                </a:cubicBezTo>
                <a:lnTo>
                  <a:pt x="5962432" y="0"/>
                </a:lnTo>
                <a:cubicBezTo>
                  <a:pt x="5995316" y="0"/>
                  <a:pt x="6021974" y="26658"/>
                  <a:pt x="6021974" y="59542"/>
                </a:cubicBezTo>
                <a:lnTo>
                  <a:pt x="6021974" y="453032"/>
                </a:lnTo>
                <a:lnTo>
                  <a:pt x="6163732" y="453032"/>
                </a:lnTo>
                <a:lnTo>
                  <a:pt x="6163732" y="59542"/>
                </a:lnTo>
                <a:cubicBezTo>
                  <a:pt x="6163732" y="26658"/>
                  <a:pt x="6190390" y="0"/>
                  <a:pt x="6223274" y="0"/>
                </a:cubicBezTo>
                <a:lnTo>
                  <a:pt x="8726914" y="0"/>
                </a:lnTo>
                <a:cubicBezTo>
                  <a:pt x="8759798" y="0"/>
                  <a:pt x="8786456" y="26658"/>
                  <a:pt x="8786456" y="59542"/>
                </a:cubicBezTo>
                <a:lnTo>
                  <a:pt x="8786456" y="453032"/>
                </a:lnTo>
                <a:lnTo>
                  <a:pt x="9300114" y="453032"/>
                </a:lnTo>
                <a:cubicBezTo>
                  <a:pt x="9326540" y="453032"/>
                  <a:pt x="9347963" y="474455"/>
                  <a:pt x="9347963" y="500881"/>
                </a:cubicBezTo>
                <a:lnTo>
                  <a:pt x="9347963" y="692272"/>
                </a:lnTo>
                <a:cubicBezTo>
                  <a:pt x="9347963" y="718698"/>
                  <a:pt x="9326540" y="740121"/>
                  <a:pt x="9300114" y="740121"/>
                </a:cubicBezTo>
                <a:lnTo>
                  <a:pt x="8786456" y="740121"/>
                </a:lnTo>
                <a:lnTo>
                  <a:pt x="8786456" y="1177815"/>
                </a:lnTo>
                <a:cubicBezTo>
                  <a:pt x="8786456" y="1210699"/>
                  <a:pt x="8759798" y="1237357"/>
                  <a:pt x="8726914" y="1237357"/>
                </a:cubicBezTo>
                <a:lnTo>
                  <a:pt x="6223274" y="1237357"/>
                </a:lnTo>
                <a:cubicBezTo>
                  <a:pt x="6190390" y="1237357"/>
                  <a:pt x="6163732" y="1210699"/>
                  <a:pt x="6163732" y="1177815"/>
                </a:cubicBezTo>
                <a:lnTo>
                  <a:pt x="6163732" y="740121"/>
                </a:lnTo>
                <a:lnTo>
                  <a:pt x="6021974" y="740121"/>
                </a:lnTo>
                <a:lnTo>
                  <a:pt x="6021974" y="1177815"/>
                </a:lnTo>
                <a:cubicBezTo>
                  <a:pt x="6021974" y="1210699"/>
                  <a:pt x="5995316" y="1237357"/>
                  <a:pt x="5962432" y="1237357"/>
                </a:cubicBezTo>
                <a:lnTo>
                  <a:pt x="3458793" y="1237357"/>
                </a:lnTo>
                <a:cubicBezTo>
                  <a:pt x="3425909" y="1237357"/>
                  <a:pt x="3399251" y="1210699"/>
                  <a:pt x="3399251" y="1177815"/>
                </a:cubicBezTo>
                <a:lnTo>
                  <a:pt x="3399251" y="740122"/>
                </a:lnTo>
                <a:lnTo>
                  <a:pt x="3257493" y="740122"/>
                </a:lnTo>
                <a:lnTo>
                  <a:pt x="3257493" y="1177815"/>
                </a:lnTo>
                <a:cubicBezTo>
                  <a:pt x="3257493" y="1210699"/>
                  <a:pt x="3230835" y="1237357"/>
                  <a:pt x="3197951" y="1237357"/>
                </a:cubicBezTo>
                <a:lnTo>
                  <a:pt x="694311" y="1237357"/>
                </a:lnTo>
                <a:cubicBezTo>
                  <a:pt x="661427" y="1237357"/>
                  <a:pt x="634769" y="1210699"/>
                  <a:pt x="634769" y="1177815"/>
                </a:cubicBezTo>
                <a:lnTo>
                  <a:pt x="634769" y="59542"/>
                </a:lnTo>
                <a:cubicBezTo>
                  <a:pt x="634769" y="26658"/>
                  <a:pt x="661427" y="0"/>
                  <a:pt x="694311" y="0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2" name="Shape 0"/>
          <p:cNvSpPr/>
          <p:nvPr/>
        </p:nvSpPr>
        <p:spPr>
          <a:xfrm>
            <a:off x="496119" y="338733"/>
            <a:ext cx="751508" cy="255091"/>
          </a:xfrm>
          <a:prstGeom prst="roundRect">
            <a:avLst>
              <a:gd name="adj" fmla="val 18673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581900" y="381223"/>
            <a:ext cx="1038597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5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ВВЕДЕНИЕ</a:t>
            </a:r>
            <a:endParaRPr lang="en-US" sz="850" dirty="0">
              <a:solidFill>
                <a:schemeClr val="bg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499153" y="593824"/>
            <a:ext cx="5835104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Цель и компетенции практики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496119" y="1250603"/>
            <a:ext cx="8151763" cy="4252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Тема проекта: </a:t>
            </a:r>
            <a:r>
              <a:rPr lang="en-US" sz="11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«Разработка цифровой экосистемы и медиаконтента "Мобильные приложения для повседневной жизни граждан"»</a:t>
            </a: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Деплой на хостинге Beget (домен s953134k.beget.tech) с использованием OpenServer и CMS WordPress.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2640" y="2292325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chemeClr val="bg1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ПК 12.1</a:t>
            </a:r>
            <a:endParaRPr lang="en-US" sz="1350" dirty="0">
              <a:solidFill>
                <a:schemeClr val="bg1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642640" y="2598837"/>
            <a:ext cx="2329681" cy="6378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Подготовительные работы по консультированию граждан в области ИКТ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3407122" y="2292325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chemeClr val="bg1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ПК 12.2</a:t>
            </a:r>
            <a:endParaRPr lang="en-US" sz="1350" dirty="0">
              <a:solidFill>
                <a:schemeClr val="bg1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3407122" y="2598837"/>
            <a:ext cx="2329681" cy="6378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Индивидуальное консультирование граждан в области ИКТ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6171605" y="2292325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chemeClr val="bg1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ПК 12.3</a:t>
            </a:r>
            <a:endParaRPr lang="en-US" sz="1350" dirty="0">
              <a:solidFill>
                <a:schemeClr val="bg1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6171605" y="2598837"/>
            <a:ext cx="2329681" cy="6378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Организационно-техническое обеспечение просветительских мероприятий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642640" y="367144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chemeClr val="bg1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ПК 12.4</a:t>
            </a:r>
            <a:endParaRPr lang="en-US" sz="1350" dirty="0">
              <a:solidFill>
                <a:schemeClr val="bg1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642640" y="3977953"/>
            <a:ext cx="3711922" cy="4252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Создание мультимедиа-контента для развития цифровой грамотности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4789363" y="367144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chemeClr val="bg1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ПК 12.5</a:t>
            </a:r>
            <a:endParaRPr lang="en-US" sz="1350" dirty="0">
              <a:solidFill>
                <a:schemeClr val="bg1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4789363" y="3977953"/>
            <a:ext cx="3711922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Публикация мультимедиа-контента в сети Интернет</a:t>
            </a:r>
            <a:endParaRPr lang="en-US" sz="11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олилиния: фигура 13">
            <a:extLst>
              <a:ext uri="{FF2B5EF4-FFF2-40B4-BE49-F238E27FC236}">
                <a16:creationId xmlns:a16="http://schemas.microsoft.com/office/drawing/2014/main" id="{7F4D01C5-18FA-2BA9-28F5-8D2A1DE38B4C}"/>
              </a:ext>
            </a:extLst>
          </p:cNvPr>
          <p:cNvSpPr/>
          <p:nvPr/>
        </p:nvSpPr>
        <p:spPr>
          <a:xfrm>
            <a:off x="5718629" y="821125"/>
            <a:ext cx="2869955" cy="4074632"/>
          </a:xfrm>
          <a:custGeom>
            <a:avLst/>
            <a:gdLst>
              <a:gd name="csX0" fmla="*/ 1022763 w 2869955"/>
              <a:gd name="csY0" fmla="*/ 0 h 4074632"/>
              <a:gd name="csX1" fmla="*/ 1905477 w 2869955"/>
              <a:gd name="csY1" fmla="*/ 0 h 4074632"/>
              <a:gd name="csX2" fmla="*/ 1963774 w 2869955"/>
              <a:gd name="csY2" fmla="*/ 58297 h 4074632"/>
              <a:gd name="csX3" fmla="*/ 1963774 w 2869955"/>
              <a:gd name="csY3" fmla="*/ 291477 h 4074632"/>
              <a:gd name="csX4" fmla="*/ 1962765 w 2869955"/>
              <a:gd name="csY4" fmla="*/ 296475 h 4074632"/>
              <a:gd name="csX5" fmla="*/ 2391620 w 2869955"/>
              <a:gd name="csY5" fmla="*/ 296475 h 4074632"/>
              <a:gd name="csX6" fmla="*/ 2869955 w 2869955"/>
              <a:gd name="csY6" fmla="*/ 774810 h 4074632"/>
              <a:gd name="csX7" fmla="*/ 2869955 w 2869955"/>
              <a:gd name="csY7" fmla="*/ 3596297 h 4074632"/>
              <a:gd name="csX8" fmla="*/ 2391620 w 2869955"/>
              <a:gd name="csY8" fmla="*/ 4074632 h 4074632"/>
              <a:gd name="csX9" fmla="*/ 478335 w 2869955"/>
              <a:gd name="csY9" fmla="*/ 4074632 h 4074632"/>
              <a:gd name="csX10" fmla="*/ 0 w 2869955"/>
              <a:gd name="csY10" fmla="*/ 3596297 h 4074632"/>
              <a:gd name="csX11" fmla="*/ 0 w 2869955"/>
              <a:gd name="csY11" fmla="*/ 774810 h 4074632"/>
              <a:gd name="csX12" fmla="*/ 478335 w 2869955"/>
              <a:gd name="csY12" fmla="*/ 296475 h 4074632"/>
              <a:gd name="csX13" fmla="*/ 965475 w 2869955"/>
              <a:gd name="csY13" fmla="*/ 296475 h 4074632"/>
              <a:gd name="csX14" fmla="*/ 964466 w 2869955"/>
              <a:gd name="csY14" fmla="*/ 291477 h 4074632"/>
              <a:gd name="csX15" fmla="*/ 964466 w 2869955"/>
              <a:gd name="csY15" fmla="*/ 58297 h 4074632"/>
              <a:gd name="csX16" fmla="*/ 1022763 w 2869955"/>
              <a:gd name="csY16" fmla="*/ 0 h 40746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2869955" h="4074632">
                <a:moveTo>
                  <a:pt x="1022763" y="0"/>
                </a:moveTo>
                <a:lnTo>
                  <a:pt x="1905477" y="0"/>
                </a:lnTo>
                <a:cubicBezTo>
                  <a:pt x="1937674" y="0"/>
                  <a:pt x="1963774" y="26100"/>
                  <a:pt x="1963774" y="58297"/>
                </a:cubicBezTo>
                <a:lnTo>
                  <a:pt x="1963774" y="291477"/>
                </a:lnTo>
                <a:lnTo>
                  <a:pt x="1962765" y="296475"/>
                </a:lnTo>
                <a:lnTo>
                  <a:pt x="2391620" y="296475"/>
                </a:lnTo>
                <a:cubicBezTo>
                  <a:pt x="2655797" y="296475"/>
                  <a:pt x="2869955" y="510633"/>
                  <a:pt x="2869955" y="774810"/>
                </a:cubicBezTo>
                <a:lnTo>
                  <a:pt x="2869955" y="3596297"/>
                </a:lnTo>
                <a:cubicBezTo>
                  <a:pt x="2869955" y="3860474"/>
                  <a:pt x="2655797" y="4074632"/>
                  <a:pt x="2391620" y="4074632"/>
                </a:cubicBezTo>
                <a:lnTo>
                  <a:pt x="478335" y="4074632"/>
                </a:lnTo>
                <a:cubicBezTo>
                  <a:pt x="214158" y="4074632"/>
                  <a:pt x="0" y="3860474"/>
                  <a:pt x="0" y="3596297"/>
                </a:cubicBezTo>
                <a:lnTo>
                  <a:pt x="0" y="774810"/>
                </a:lnTo>
                <a:cubicBezTo>
                  <a:pt x="0" y="510633"/>
                  <a:pt x="214158" y="296475"/>
                  <a:pt x="478335" y="296475"/>
                </a:cubicBezTo>
                <a:lnTo>
                  <a:pt x="965475" y="296475"/>
                </a:lnTo>
                <a:lnTo>
                  <a:pt x="964466" y="291477"/>
                </a:lnTo>
                <a:lnTo>
                  <a:pt x="964466" y="58297"/>
                </a:lnTo>
                <a:cubicBezTo>
                  <a:pt x="964466" y="26100"/>
                  <a:pt x="990566" y="0"/>
                  <a:pt x="1022763" y="0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555416" y="247743"/>
            <a:ext cx="7336408" cy="6645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КОГПОБУ «Слободской колледж педагогики и социальных отношений»</a:t>
            </a:r>
            <a:endParaRPr lang="en-US" sz="2050" dirty="0"/>
          </a:p>
        </p:txBody>
      </p:sp>
      <p:sp>
        <p:nvSpPr>
          <p:cNvPr id="6" name="Text 3"/>
          <p:cNvSpPr/>
          <p:nvPr/>
        </p:nvSpPr>
        <p:spPr>
          <a:xfrm>
            <a:off x="6756630" y="895112"/>
            <a:ext cx="1786235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Организация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7" name="Text 4"/>
          <p:cNvSpPr/>
          <p:nvPr/>
        </p:nvSpPr>
        <p:spPr>
          <a:xfrm>
            <a:off x="6124542" y="1170899"/>
            <a:ext cx="2399109" cy="22123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Многопрофильное учреждение СПО, ведущее активную социальную работу по повышению ИКТ-компетентности населения. Проект разработан в рамках подготовки ИТ-специалистов для консультационной деятельности (Госуслуги, онлайн-банкинг, социальные платформы).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8" name="Text 5"/>
          <p:cNvSpPr/>
          <p:nvPr/>
        </p:nvSpPr>
        <p:spPr>
          <a:xfrm>
            <a:off x="5811586" y="3665643"/>
            <a:ext cx="2399109" cy="6139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342900" indent="-342900" algn="l">
              <a:lnSpc>
                <a:spcPct val="109000"/>
              </a:lnSpc>
              <a:buSzPct val="100000"/>
              <a:buChar char="•"/>
            </a:pPr>
            <a:r>
              <a:rPr lang="ru-RU" sz="1200" b="1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Адрес</a:t>
            </a:r>
            <a:r>
              <a:rPr lang="en-US" sz="1200" b="1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</a:t>
            </a:r>
            <a:r>
              <a:rPr lang="en-US" sz="120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г. Слободской, ул. Рождественская, д. 69</a:t>
            </a:r>
            <a:endParaRPr lang="en-US" sz="1200" dirty="0">
              <a:solidFill>
                <a:schemeClr val="bg1"/>
              </a:solidFill>
            </a:endParaRPr>
          </a:p>
          <a:p>
            <a:pPr marL="342900" indent="-342900" algn="l">
              <a:lnSpc>
                <a:spcPct val="109000"/>
              </a:lnSpc>
              <a:buSzPct val="100000"/>
              <a:buChar char="•"/>
            </a:pPr>
            <a:r>
              <a:rPr lang="en-US" sz="1200" b="1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Директор:</a:t>
            </a:r>
            <a:r>
              <a:rPr lang="en-US" sz="120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Мишарин Валерий Иванович</a:t>
            </a:r>
            <a:endParaRPr lang="en-US" sz="1200" dirty="0">
              <a:solidFill>
                <a:schemeClr val="bg1"/>
              </a:solidFill>
            </a:endParaRPr>
          </a:p>
          <a:p>
            <a:pPr marL="342900" indent="-342900" algn="l">
              <a:lnSpc>
                <a:spcPct val="109000"/>
              </a:lnSpc>
              <a:buSzPct val="100000"/>
              <a:buChar char="•"/>
            </a:pPr>
            <a:r>
              <a:rPr lang="en-US" sz="1200" b="1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Сайт:</a:t>
            </a:r>
            <a:r>
              <a:rPr lang="en-US" sz="120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slobkoll.ru</a:t>
            </a:r>
            <a:endParaRPr lang="en-US" sz="1200" dirty="0">
              <a:solidFill>
                <a:schemeClr val="bg1"/>
              </a:solidFill>
            </a:endParaRP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84890A4C-D792-2C82-4E81-0F6F2D523D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015" y="1384662"/>
            <a:ext cx="4837056" cy="312281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олилиния: фигура 12">
            <a:extLst>
              <a:ext uri="{FF2B5EF4-FFF2-40B4-BE49-F238E27FC236}">
                <a16:creationId xmlns:a16="http://schemas.microsoft.com/office/drawing/2014/main" id="{F68BCBF5-B2D0-E893-B499-FBE5B5C35150}"/>
              </a:ext>
            </a:extLst>
          </p:cNvPr>
          <p:cNvSpPr/>
          <p:nvPr/>
        </p:nvSpPr>
        <p:spPr>
          <a:xfrm rot="5400000">
            <a:off x="4787021" y="888095"/>
            <a:ext cx="2998960" cy="4722763"/>
          </a:xfrm>
          <a:custGeom>
            <a:avLst/>
            <a:gdLst>
              <a:gd name="csX0" fmla="*/ 0 w 2998960"/>
              <a:gd name="csY0" fmla="*/ 4665078 h 4722763"/>
              <a:gd name="csX1" fmla="*/ 0 w 2998960"/>
              <a:gd name="csY1" fmla="*/ 57685 h 4722763"/>
              <a:gd name="csX2" fmla="*/ 57685 w 2998960"/>
              <a:gd name="csY2" fmla="*/ 0 h 4722763"/>
              <a:gd name="csX3" fmla="*/ 1250663 w 2998960"/>
              <a:gd name="csY3" fmla="*/ 0 h 4722763"/>
              <a:gd name="csX4" fmla="*/ 1308348 w 2998960"/>
              <a:gd name="csY4" fmla="*/ 57685 h 4722763"/>
              <a:gd name="csX5" fmla="*/ 1308348 w 2998960"/>
              <a:gd name="csY5" fmla="*/ 2284400 h 4722763"/>
              <a:gd name="csX6" fmla="*/ 1441325 w 2998960"/>
              <a:gd name="csY6" fmla="*/ 2284400 h 4722763"/>
              <a:gd name="csX7" fmla="*/ 1441325 w 2998960"/>
              <a:gd name="csY7" fmla="*/ 57679 h 4722763"/>
              <a:gd name="csX8" fmla="*/ 1499004 w 2998960"/>
              <a:gd name="csY8" fmla="*/ 0 h 4722763"/>
              <a:gd name="csX9" fmla="*/ 2941281 w 2998960"/>
              <a:gd name="csY9" fmla="*/ 0 h 4722763"/>
              <a:gd name="csX10" fmla="*/ 2998960 w 2998960"/>
              <a:gd name="csY10" fmla="*/ 57679 h 4722763"/>
              <a:gd name="csX11" fmla="*/ 2998960 w 2998960"/>
              <a:gd name="csY11" fmla="*/ 4665084 h 4722763"/>
              <a:gd name="csX12" fmla="*/ 2941281 w 2998960"/>
              <a:gd name="csY12" fmla="*/ 4722763 h 4722763"/>
              <a:gd name="csX13" fmla="*/ 1499004 w 2998960"/>
              <a:gd name="csY13" fmla="*/ 4722763 h 4722763"/>
              <a:gd name="csX14" fmla="*/ 1441325 w 2998960"/>
              <a:gd name="csY14" fmla="*/ 4665084 h 4722763"/>
              <a:gd name="csX15" fmla="*/ 1441325 w 2998960"/>
              <a:gd name="csY15" fmla="*/ 2528850 h 4722763"/>
              <a:gd name="csX16" fmla="*/ 1308348 w 2998960"/>
              <a:gd name="csY16" fmla="*/ 2528850 h 4722763"/>
              <a:gd name="csX17" fmla="*/ 1308348 w 2998960"/>
              <a:gd name="csY17" fmla="*/ 4665078 h 4722763"/>
              <a:gd name="csX18" fmla="*/ 1250663 w 2998960"/>
              <a:gd name="csY18" fmla="*/ 4722763 h 4722763"/>
              <a:gd name="csX19" fmla="*/ 57685 w 2998960"/>
              <a:gd name="csY19" fmla="*/ 4722763 h 4722763"/>
              <a:gd name="csX20" fmla="*/ 0 w 2998960"/>
              <a:gd name="csY20" fmla="*/ 4665078 h 472276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2998960" h="4722763">
                <a:moveTo>
                  <a:pt x="0" y="4665078"/>
                </a:moveTo>
                <a:lnTo>
                  <a:pt x="0" y="57685"/>
                </a:lnTo>
                <a:cubicBezTo>
                  <a:pt x="0" y="25826"/>
                  <a:pt x="25826" y="0"/>
                  <a:pt x="57685" y="0"/>
                </a:cubicBezTo>
                <a:lnTo>
                  <a:pt x="1250663" y="0"/>
                </a:lnTo>
                <a:cubicBezTo>
                  <a:pt x="1282522" y="0"/>
                  <a:pt x="1308348" y="25826"/>
                  <a:pt x="1308348" y="57685"/>
                </a:cubicBezTo>
                <a:lnTo>
                  <a:pt x="1308348" y="2284400"/>
                </a:lnTo>
                <a:lnTo>
                  <a:pt x="1441325" y="2284400"/>
                </a:lnTo>
                <a:lnTo>
                  <a:pt x="1441325" y="57679"/>
                </a:lnTo>
                <a:cubicBezTo>
                  <a:pt x="1441325" y="25824"/>
                  <a:pt x="1467149" y="0"/>
                  <a:pt x="1499004" y="0"/>
                </a:cubicBezTo>
                <a:lnTo>
                  <a:pt x="2941281" y="0"/>
                </a:lnTo>
                <a:cubicBezTo>
                  <a:pt x="2973136" y="0"/>
                  <a:pt x="2998960" y="25824"/>
                  <a:pt x="2998960" y="57679"/>
                </a:cubicBezTo>
                <a:lnTo>
                  <a:pt x="2998960" y="4665084"/>
                </a:lnTo>
                <a:cubicBezTo>
                  <a:pt x="2998960" y="4696939"/>
                  <a:pt x="2973136" y="4722763"/>
                  <a:pt x="2941281" y="4722763"/>
                </a:cubicBezTo>
                <a:lnTo>
                  <a:pt x="1499004" y="4722763"/>
                </a:lnTo>
                <a:cubicBezTo>
                  <a:pt x="1467149" y="4722763"/>
                  <a:pt x="1441325" y="4696939"/>
                  <a:pt x="1441325" y="4665084"/>
                </a:cubicBezTo>
                <a:lnTo>
                  <a:pt x="1441325" y="2528850"/>
                </a:lnTo>
                <a:lnTo>
                  <a:pt x="1308348" y="2528850"/>
                </a:lnTo>
                <a:lnTo>
                  <a:pt x="1308348" y="4665078"/>
                </a:lnTo>
                <a:cubicBezTo>
                  <a:pt x="1308348" y="4696937"/>
                  <a:pt x="1282522" y="4722763"/>
                  <a:pt x="1250663" y="4722763"/>
                </a:cubicBezTo>
                <a:lnTo>
                  <a:pt x="57685" y="4722763"/>
                </a:lnTo>
                <a:cubicBezTo>
                  <a:pt x="25826" y="4722763"/>
                  <a:pt x="0" y="4696937"/>
                  <a:pt x="0" y="4665078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square">
            <a:noAutofit/>
          </a:bodyPr>
          <a:lstStyle/>
          <a:p>
            <a:endParaRPr lang="ru-RU"/>
          </a:p>
        </p:txBody>
      </p:sp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60045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925119" y="394543"/>
            <a:ext cx="1037704" cy="244450"/>
          </a:xfrm>
          <a:prstGeom prst="roundRect">
            <a:avLst>
              <a:gd name="adj" fmla="val 18877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4" name="Text 1"/>
          <p:cNvSpPr/>
          <p:nvPr/>
        </p:nvSpPr>
        <p:spPr>
          <a:xfrm>
            <a:off x="4007495" y="435694"/>
            <a:ext cx="1330151" cy="162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5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РАБОЧЕЕ МЕСТО</a:t>
            </a:r>
            <a:endParaRPr lang="en-US" sz="850" dirty="0">
              <a:solidFill>
                <a:schemeClr val="bg1"/>
              </a:solidFill>
            </a:endParaRPr>
          </a:p>
        </p:txBody>
      </p:sp>
      <p:sp>
        <p:nvSpPr>
          <p:cNvPr id="5" name="Text 2"/>
          <p:cNvSpPr/>
          <p:nvPr/>
        </p:nvSpPr>
        <p:spPr>
          <a:xfrm>
            <a:off x="3925119" y="692200"/>
            <a:ext cx="4722763" cy="8582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Оснащение и программное обеспечение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4081463" y="1906339"/>
            <a:ext cx="2159794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chemeClr val="bg1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Аппаратное обеспечение</a:t>
            </a:r>
            <a:endParaRPr lang="en-US" sz="1350" dirty="0">
              <a:solidFill>
                <a:schemeClr val="bg1"/>
              </a:solidFill>
            </a:endParaRPr>
          </a:p>
        </p:txBody>
      </p:sp>
      <p:sp>
        <p:nvSpPr>
          <p:cNvPr id="8" name="Text 5"/>
          <p:cNvSpPr/>
          <p:nvPr/>
        </p:nvSpPr>
        <p:spPr>
          <a:xfrm>
            <a:off x="4081463" y="2200647"/>
            <a:ext cx="4410075" cy="7013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3000"/>
              </a:lnSpc>
              <a:buSzPct val="100000"/>
              <a:buChar char="•"/>
            </a:pPr>
            <a:r>
              <a:rPr lang="en-US" sz="105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Intel Core i5-12450h, 16 ГБ RAM, SSD 512 ГБ, RTX 3050</a:t>
            </a:r>
            <a:endParaRPr lang="en-US" sz="1050" dirty="0">
              <a:solidFill>
                <a:schemeClr val="bg1"/>
              </a:solidFill>
            </a:endParaRPr>
          </a:p>
          <a:p>
            <a:pPr marL="342900" indent="-342900" algn="l">
              <a:lnSpc>
                <a:spcPct val="123000"/>
              </a:lnSpc>
              <a:buSzPct val="100000"/>
              <a:buChar char="•"/>
            </a:pPr>
            <a:r>
              <a:rPr lang="en-US" sz="105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Два монитора IPS (15.6″ + 27″, Full HD)</a:t>
            </a:r>
            <a:endParaRPr lang="en-US" sz="1050" dirty="0">
              <a:solidFill>
                <a:schemeClr val="bg1"/>
              </a:solidFill>
            </a:endParaRPr>
          </a:p>
          <a:p>
            <a:pPr marL="342900" indent="-342900" algn="l">
              <a:lnSpc>
                <a:spcPct val="123000"/>
              </a:lnSpc>
              <a:buSzPct val="100000"/>
              <a:buChar char="•"/>
            </a:pPr>
            <a:r>
              <a:rPr lang="en-US" sz="105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Микрофон и наушники для записи медиаконтента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10" name="Text 7"/>
          <p:cNvSpPr/>
          <p:nvPr/>
        </p:nvSpPr>
        <p:spPr>
          <a:xfrm>
            <a:off x="4081463" y="3347665"/>
            <a:ext cx="232119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chemeClr val="bg1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Программное обеспечение</a:t>
            </a:r>
            <a:endParaRPr lang="en-US" sz="1350" dirty="0">
              <a:solidFill>
                <a:schemeClr val="bg1"/>
              </a:solidFill>
            </a:endParaRPr>
          </a:p>
        </p:txBody>
      </p:sp>
      <p:sp>
        <p:nvSpPr>
          <p:cNvPr id="11" name="Text 8"/>
          <p:cNvSpPr/>
          <p:nvPr/>
        </p:nvSpPr>
        <p:spPr>
          <a:xfrm>
            <a:off x="4081463" y="3641973"/>
            <a:ext cx="4410075" cy="950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3000"/>
              </a:lnSpc>
              <a:buSzPct val="100000"/>
              <a:buChar char="•"/>
            </a:pPr>
            <a:r>
              <a:rPr lang="en-US" sz="1050" b="1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Сервер:</a:t>
            </a:r>
            <a:r>
              <a:rPr lang="en-US" sz="105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OpenServer (Apache, MySQL)</a:t>
            </a:r>
            <a:endParaRPr lang="en-US" sz="1050" dirty="0">
              <a:solidFill>
                <a:schemeClr val="bg1"/>
              </a:solidFill>
            </a:endParaRPr>
          </a:p>
          <a:p>
            <a:pPr marL="342900" indent="-342900" algn="l">
              <a:lnSpc>
                <a:spcPct val="123000"/>
              </a:lnSpc>
              <a:buSzPct val="100000"/>
              <a:buChar char="•"/>
            </a:pPr>
            <a:r>
              <a:rPr lang="en-US" sz="1050" b="1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Разработка:</a:t>
            </a:r>
            <a:r>
              <a:rPr lang="en-US" sz="105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VS Code, WordPress, Elementor</a:t>
            </a:r>
            <a:endParaRPr lang="en-US" sz="1050" dirty="0">
              <a:solidFill>
                <a:schemeClr val="bg1"/>
              </a:solidFill>
            </a:endParaRPr>
          </a:p>
          <a:p>
            <a:pPr marL="342900" indent="-342900" algn="l">
              <a:lnSpc>
                <a:spcPct val="123000"/>
              </a:lnSpc>
              <a:buSzPct val="100000"/>
              <a:buChar char="•"/>
            </a:pPr>
            <a:r>
              <a:rPr lang="en-US" sz="1050" b="1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Дизайн:</a:t>
            </a:r>
            <a:r>
              <a:rPr lang="en-US" sz="105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Figma, Adobe Photoshop, Illustrator</a:t>
            </a:r>
            <a:endParaRPr lang="en-US" sz="1050" dirty="0">
              <a:solidFill>
                <a:schemeClr val="bg1"/>
              </a:solidFill>
            </a:endParaRPr>
          </a:p>
          <a:p>
            <a:pPr marL="342900" indent="-342900" algn="l">
              <a:lnSpc>
                <a:spcPct val="123000"/>
              </a:lnSpc>
              <a:buSzPct val="100000"/>
              <a:buChar char="•"/>
            </a:pPr>
            <a:r>
              <a:rPr lang="en-US" sz="1050" b="1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Видео/аудио:</a:t>
            </a:r>
            <a:r>
              <a:rPr lang="en-US" sz="105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CapCut, Audacity</a:t>
            </a:r>
            <a:endParaRPr lang="en-US" sz="105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770855"/>
            <a:ext cx="1049759" cy="255091"/>
          </a:xfrm>
          <a:prstGeom prst="roundRect">
            <a:avLst>
              <a:gd name="adj" fmla="val 18673"/>
            </a:avLst>
          </a:prstGeom>
          <a:solidFill>
            <a:srgbClr val="D9EDF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581174" y="813346"/>
            <a:ext cx="1336849" cy="1701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БЕЗОПАСНОСТЬ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082650"/>
            <a:ext cx="8151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Техника безопасности и должностные обязанности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496119" y="2322984"/>
            <a:ext cx="303795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Правила ТБ при работе за ПК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96119" y="2686199"/>
            <a:ext cx="3902943" cy="949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Расстояние до монитора: 60–70 см; перерыв каждые 45–50 мин</a:t>
            </a:r>
            <a:endParaRPr lang="en-US" sz="1100" dirty="0"/>
          </a:p>
          <a:p>
            <a:pPr marL="342900" indent="-342900" algn="l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Запрет жидкостей и еды на рабочем столе</a:t>
            </a:r>
            <a:endParaRPr lang="en-US" sz="1100" dirty="0"/>
          </a:p>
          <a:p>
            <a:pPr marL="342900" indent="-342900" algn="l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При запахе гари — немедленно обесточить ПК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49701" y="2322984"/>
            <a:ext cx="367196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Обязанности техника-программиста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749701" y="2686199"/>
            <a:ext cx="3902943" cy="16368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Проектирование и обслуживание веб-сайтов и баз данных</a:t>
            </a:r>
            <a:endParaRPr lang="en-US" sz="1100" dirty="0"/>
          </a:p>
          <a:p>
            <a:pPr marL="342900" indent="-342900" algn="l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Разработка, тестирование и отладка программных модулей</a:t>
            </a:r>
            <a:endParaRPr lang="en-US" sz="1100" dirty="0"/>
          </a:p>
          <a:p>
            <a:pPr marL="342900" indent="-342900" algn="l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Контроль антивирусной защиты и резервное копирование</a:t>
            </a:r>
            <a:endParaRPr lang="en-US" sz="1100" dirty="0"/>
          </a:p>
          <a:p>
            <a:pPr marL="342900" indent="-342900" algn="l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Ведение технической документации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олилиния: фигура 14">
            <a:extLst>
              <a:ext uri="{FF2B5EF4-FFF2-40B4-BE49-F238E27FC236}">
                <a16:creationId xmlns:a16="http://schemas.microsoft.com/office/drawing/2014/main" id="{199CE320-790D-AF09-773B-AB442BFDE69F}"/>
              </a:ext>
            </a:extLst>
          </p:cNvPr>
          <p:cNvSpPr/>
          <p:nvPr/>
        </p:nvSpPr>
        <p:spPr>
          <a:xfrm>
            <a:off x="5890378" y="1053331"/>
            <a:ext cx="2731107" cy="3148235"/>
          </a:xfrm>
          <a:custGeom>
            <a:avLst/>
            <a:gdLst>
              <a:gd name="csX0" fmla="*/ 937559 w 2731107"/>
              <a:gd name="csY0" fmla="*/ 0 h 3148235"/>
              <a:gd name="csX1" fmla="*/ 1732889 w 2731107"/>
              <a:gd name="csY1" fmla="*/ 0 h 3148235"/>
              <a:gd name="csX2" fmla="*/ 1836303 w 2731107"/>
              <a:gd name="csY2" fmla="*/ 103414 h 3148235"/>
              <a:gd name="csX3" fmla="*/ 1836303 w 2731107"/>
              <a:gd name="csY3" fmla="*/ 256526 h 3148235"/>
              <a:gd name="csX4" fmla="*/ 1835910 w 2731107"/>
              <a:gd name="csY4" fmla="*/ 258473 h 3148235"/>
              <a:gd name="csX5" fmla="*/ 2541131 w 2731107"/>
              <a:gd name="csY5" fmla="*/ 258473 h 3148235"/>
              <a:gd name="csX6" fmla="*/ 2731107 w 2731107"/>
              <a:gd name="csY6" fmla="*/ 448449 h 3148235"/>
              <a:gd name="csX7" fmla="*/ 2731107 w 2731107"/>
              <a:gd name="csY7" fmla="*/ 2958259 h 3148235"/>
              <a:gd name="csX8" fmla="*/ 2541131 w 2731107"/>
              <a:gd name="csY8" fmla="*/ 3148235 h 3148235"/>
              <a:gd name="csX9" fmla="*/ 189976 w 2731107"/>
              <a:gd name="csY9" fmla="*/ 3148235 h 3148235"/>
              <a:gd name="csX10" fmla="*/ 0 w 2731107"/>
              <a:gd name="csY10" fmla="*/ 2958259 h 3148235"/>
              <a:gd name="csX11" fmla="*/ 0 w 2731107"/>
              <a:gd name="csY11" fmla="*/ 448449 h 3148235"/>
              <a:gd name="csX12" fmla="*/ 189976 w 2731107"/>
              <a:gd name="csY12" fmla="*/ 258473 h 3148235"/>
              <a:gd name="csX13" fmla="*/ 834538 w 2731107"/>
              <a:gd name="csY13" fmla="*/ 258473 h 3148235"/>
              <a:gd name="csX14" fmla="*/ 834145 w 2731107"/>
              <a:gd name="csY14" fmla="*/ 256526 h 3148235"/>
              <a:gd name="csX15" fmla="*/ 834145 w 2731107"/>
              <a:gd name="csY15" fmla="*/ 103414 h 3148235"/>
              <a:gd name="csX16" fmla="*/ 937559 w 2731107"/>
              <a:gd name="csY16" fmla="*/ 0 h 314823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2731107" h="3148235">
                <a:moveTo>
                  <a:pt x="937559" y="0"/>
                </a:moveTo>
                <a:lnTo>
                  <a:pt x="1732889" y="0"/>
                </a:lnTo>
                <a:cubicBezTo>
                  <a:pt x="1790003" y="0"/>
                  <a:pt x="1836303" y="46300"/>
                  <a:pt x="1836303" y="103414"/>
                </a:cubicBezTo>
                <a:lnTo>
                  <a:pt x="1836303" y="256526"/>
                </a:lnTo>
                <a:lnTo>
                  <a:pt x="1835910" y="258473"/>
                </a:lnTo>
                <a:lnTo>
                  <a:pt x="2541131" y="258473"/>
                </a:lnTo>
                <a:cubicBezTo>
                  <a:pt x="2646052" y="258473"/>
                  <a:pt x="2731107" y="343528"/>
                  <a:pt x="2731107" y="448449"/>
                </a:cubicBezTo>
                <a:lnTo>
                  <a:pt x="2731107" y="2958259"/>
                </a:lnTo>
                <a:cubicBezTo>
                  <a:pt x="2731107" y="3063180"/>
                  <a:pt x="2646052" y="3148235"/>
                  <a:pt x="2541131" y="3148235"/>
                </a:cubicBezTo>
                <a:lnTo>
                  <a:pt x="189976" y="3148235"/>
                </a:lnTo>
                <a:cubicBezTo>
                  <a:pt x="85055" y="3148235"/>
                  <a:pt x="0" y="3063180"/>
                  <a:pt x="0" y="2958259"/>
                </a:cubicBezTo>
                <a:lnTo>
                  <a:pt x="0" y="448449"/>
                </a:lnTo>
                <a:cubicBezTo>
                  <a:pt x="0" y="343528"/>
                  <a:pt x="85055" y="258473"/>
                  <a:pt x="189976" y="258473"/>
                </a:cubicBezTo>
                <a:lnTo>
                  <a:pt x="834538" y="258473"/>
                </a:lnTo>
                <a:lnTo>
                  <a:pt x="834145" y="256526"/>
                </a:lnTo>
                <a:lnTo>
                  <a:pt x="834145" y="103414"/>
                </a:lnTo>
                <a:cubicBezTo>
                  <a:pt x="834145" y="46300"/>
                  <a:pt x="880445" y="0"/>
                  <a:pt x="937559" y="0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square">
            <a:noAutofit/>
          </a:bodyPr>
          <a:lstStyle/>
          <a:p>
            <a:endParaRPr lang="ru-RU"/>
          </a:p>
        </p:txBody>
      </p:sp>
      <p:sp>
        <p:nvSpPr>
          <p:cNvPr id="2" name="Shape 0"/>
          <p:cNvSpPr/>
          <p:nvPr/>
        </p:nvSpPr>
        <p:spPr>
          <a:xfrm>
            <a:off x="598066" y="424309"/>
            <a:ext cx="830833" cy="194221"/>
          </a:xfrm>
          <a:prstGeom prst="roundRect">
            <a:avLst>
              <a:gd name="adj" fmla="val 19927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667122" y="458837"/>
            <a:ext cx="1149921" cy="125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0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АНАЛИЗ САЙТА</a:t>
            </a:r>
            <a:endParaRPr lang="en-US" sz="700" dirty="0">
              <a:solidFill>
                <a:schemeClr val="bg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598066" y="655960"/>
            <a:ext cx="6180088" cy="3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Официальный сайт КОГПОБУ «СКПиСО»</a:t>
            </a:r>
            <a:endParaRPr lang="en-US" sz="2250" dirty="0"/>
          </a:p>
        </p:txBody>
      </p:sp>
      <p:sp>
        <p:nvSpPr>
          <p:cNvPr id="6" name="Text 3"/>
          <p:cNvSpPr/>
          <p:nvPr/>
        </p:nvSpPr>
        <p:spPr>
          <a:xfrm>
            <a:off x="6765092" y="1136523"/>
            <a:ext cx="18969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chemeClr val="bg1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Характеристика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7" name="Text 4"/>
          <p:cNvSpPr/>
          <p:nvPr/>
        </p:nvSpPr>
        <p:spPr>
          <a:xfrm>
            <a:off x="5986992" y="1410715"/>
            <a:ext cx="2599060" cy="6262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0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Крупный корпоративный многостраничный веб-портал с иерархической (древовидной) архитектурой. Главная страница — корневой узел с навигацией по разделам.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8" name="Text 5"/>
          <p:cNvSpPr/>
          <p:nvPr/>
        </p:nvSpPr>
        <p:spPr>
          <a:xfrm>
            <a:off x="6022425" y="2639284"/>
            <a:ext cx="2599060" cy="84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342900" indent="-342900" algn="l">
              <a:lnSpc>
                <a:spcPct val="113000"/>
              </a:lnSpc>
              <a:buSzPct val="100000"/>
              <a:buChar char="•"/>
            </a:pPr>
            <a:r>
              <a:rPr lang="en-US" sz="110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Материально-техническое обеспечение ИКТ-инфраструктуры</a:t>
            </a:r>
            <a:endParaRPr lang="en-US" sz="1100" dirty="0">
              <a:solidFill>
                <a:schemeClr val="bg1"/>
              </a:solidFill>
            </a:endParaRPr>
          </a:p>
          <a:p>
            <a:pPr marL="342900" indent="-342900" algn="l">
              <a:lnSpc>
                <a:spcPct val="113000"/>
              </a:lnSpc>
              <a:buSzPct val="100000"/>
              <a:buChar char="•"/>
            </a:pPr>
            <a:r>
              <a:rPr lang="en-US" sz="110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Курсы повышения ИКТ-грамотности</a:t>
            </a:r>
            <a:endParaRPr lang="en-US" sz="1100" dirty="0">
              <a:solidFill>
                <a:schemeClr val="bg1"/>
              </a:solidFill>
            </a:endParaRPr>
          </a:p>
          <a:p>
            <a:pPr marL="342900" indent="-342900" algn="l">
              <a:lnSpc>
                <a:spcPct val="113000"/>
              </a:lnSpc>
              <a:buSzPct val="100000"/>
              <a:buChar char="•"/>
            </a:pPr>
            <a:r>
              <a:rPr lang="en-US" sz="110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Новости и медиа о просветительских мероприятиях</a:t>
            </a:r>
            <a:endParaRPr lang="en-US" sz="1100" dirty="0">
              <a:solidFill>
                <a:schemeClr val="bg1"/>
              </a:solidFill>
            </a:endParaRP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CFDFA396-4408-6B8B-E2AA-C5CE118B7A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636" y="1168531"/>
            <a:ext cx="5423250" cy="280643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0">
            <a:extLst>
              <a:ext uri="{FF2B5EF4-FFF2-40B4-BE49-F238E27FC236}">
                <a16:creationId xmlns:a16="http://schemas.microsoft.com/office/drawing/2014/main" id="{4E6A5D55-5B46-0E66-226D-D464B95B260E}"/>
              </a:ext>
            </a:extLst>
          </p:cNvPr>
          <p:cNvSpPr/>
          <p:nvPr/>
        </p:nvSpPr>
        <p:spPr>
          <a:xfrm>
            <a:off x="128585" y="1604549"/>
            <a:ext cx="2887269" cy="1248514"/>
          </a:xfrm>
          <a:prstGeom prst="roundRect">
            <a:avLst>
              <a:gd name="adj" fmla="val 18673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15" name="Shape 0">
            <a:extLst>
              <a:ext uri="{FF2B5EF4-FFF2-40B4-BE49-F238E27FC236}">
                <a16:creationId xmlns:a16="http://schemas.microsoft.com/office/drawing/2014/main" id="{076249BD-C307-D75B-0F75-F81F48AE84F1}"/>
              </a:ext>
            </a:extLst>
          </p:cNvPr>
          <p:cNvSpPr/>
          <p:nvPr/>
        </p:nvSpPr>
        <p:spPr>
          <a:xfrm>
            <a:off x="3028916" y="3457726"/>
            <a:ext cx="2887269" cy="1248514"/>
          </a:xfrm>
          <a:prstGeom prst="roundRect">
            <a:avLst>
              <a:gd name="adj" fmla="val 18673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16" name="Shape 0">
            <a:extLst>
              <a:ext uri="{FF2B5EF4-FFF2-40B4-BE49-F238E27FC236}">
                <a16:creationId xmlns:a16="http://schemas.microsoft.com/office/drawing/2014/main" id="{6F742A73-C51D-FDC6-B998-497399AFD1B3}"/>
              </a:ext>
            </a:extLst>
          </p:cNvPr>
          <p:cNvSpPr/>
          <p:nvPr/>
        </p:nvSpPr>
        <p:spPr>
          <a:xfrm>
            <a:off x="5947959" y="1604549"/>
            <a:ext cx="2887269" cy="1248514"/>
          </a:xfrm>
          <a:prstGeom prst="roundRect">
            <a:avLst>
              <a:gd name="adj" fmla="val 18673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2" name="Shape 0"/>
          <p:cNvSpPr/>
          <p:nvPr/>
        </p:nvSpPr>
        <p:spPr>
          <a:xfrm>
            <a:off x="450399" y="483081"/>
            <a:ext cx="1846064" cy="255091"/>
          </a:xfrm>
          <a:prstGeom prst="roundRect">
            <a:avLst>
              <a:gd name="adj" fmla="val 18673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535454" y="525572"/>
            <a:ext cx="2133154" cy="1701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5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ДНИ 1–3 · ДИЗАЙН И КОНТЕНТ</a:t>
            </a:r>
            <a:endParaRPr lang="en-US" sz="850" dirty="0">
              <a:solidFill>
                <a:schemeClr val="bg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450399" y="831131"/>
            <a:ext cx="6366942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Брендинг, графика и база данных</a:t>
            </a:r>
            <a:endParaRPr lang="en-US" sz="2750" dirty="0"/>
          </a:p>
        </p:txBody>
      </p:sp>
      <p:sp>
        <p:nvSpPr>
          <p:cNvPr id="6" name="Text 3"/>
          <p:cNvSpPr/>
          <p:nvPr/>
        </p:nvSpPr>
        <p:spPr>
          <a:xfrm>
            <a:off x="361243" y="1676554"/>
            <a:ext cx="200635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chemeClr val="bg1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День 1 — UI/UX дизайн</a:t>
            </a:r>
            <a:endParaRPr lang="en-US" sz="1350" dirty="0">
              <a:solidFill>
                <a:schemeClr val="bg1"/>
              </a:solidFill>
            </a:endParaRPr>
          </a:p>
        </p:txBody>
      </p:sp>
      <p:sp>
        <p:nvSpPr>
          <p:cNvPr id="7" name="Text 4"/>
          <p:cNvSpPr/>
          <p:nvPr/>
        </p:nvSpPr>
        <p:spPr>
          <a:xfrm>
            <a:off x="361243" y="1983065"/>
            <a:ext cx="2599134" cy="1063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Figma + Adobe Illustrator: конкурентный анализ, фирменный стиль, логотип, интерактивный прототип Landing Page с модульной сеткой.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9" name="Text 5"/>
          <p:cNvSpPr/>
          <p:nvPr/>
        </p:nvSpPr>
        <p:spPr>
          <a:xfrm>
            <a:off x="3285495" y="3578727"/>
            <a:ext cx="251973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chemeClr val="bg1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День 2 — Растровая графика</a:t>
            </a:r>
            <a:endParaRPr lang="en-US" sz="1350" dirty="0">
              <a:solidFill>
                <a:schemeClr val="bg1"/>
              </a:solidFill>
            </a:endParaRPr>
          </a:p>
        </p:txBody>
      </p:sp>
      <p:sp>
        <p:nvSpPr>
          <p:cNvPr id="10" name="Text 6"/>
          <p:cNvSpPr/>
          <p:nvPr/>
        </p:nvSpPr>
        <p:spPr>
          <a:xfrm>
            <a:off x="3285495" y="3873809"/>
            <a:ext cx="2599134" cy="6378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Adobe Photoshop: цветокоррекция, ретушь, баннеры. Экспорт в WebP/PNG с оптимизацией для веба.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2" name="Text 7"/>
          <p:cNvSpPr/>
          <p:nvPr/>
        </p:nvSpPr>
        <p:spPr>
          <a:xfrm>
            <a:off x="6236364" y="1645451"/>
            <a:ext cx="202257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chemeClr val="bg1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День 3 — Контент и БД</a:t>
            </a:r>
            <a:endParaRPr lang="en-US" sz="1350" dirty="0">
              <a:solidFill>
                <a:schemeClr val="bg1"/>
              </a:solidFill>
            </a:endParaRPr>
          </a:p>
        </p:txBody>
      </p:sp>
      <p:sp>
        <p:nvSpPr>
          <p:cNvPr id="13" name="Text 8"/>
          <p:cNvSpPr/>
          <p:nvPr/>
        </p:nvSpPr>
        <p:spPr>
          <a:xfrm>
            <a:off x="6236364" y="1934783"/>
            <a:ext cx="2599134" cy="8504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MS Word/Excel: тексты, матрица контента, каталог приложений. MySQL/phpMyAdmin: схема БД, кодировка utf8mb4_unicode_ci.</a:t>
            </a:r>
            <a:endParaRPr lang="en-US" sz="11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0">
            <a:extLst>
              <a:ext uri="{FF2B5EF4-FFF2-40B4-BE49-F238E27FC236}">
                <a16:creationId xmlns:a16="http://schemas.microsoft.com/office/drawing/2014/main" id="{327A8447-6FB6-37D1-333D-F4CC30232B46}"/>
              </a:ext>
            </a:extLst>
          </p:cNvPr>
          <p:cNvSpPr/>
          <p:nvPr/>
        </p:nvSpPr>
        <p:spPr>
          <a:xfrm>
            <a:off x="5657801" y="2590042"/>
            <a:ext cx="2479466" cy="1652452"/>
          </a:xfrm>
          <a:prstGeom prst="roundRect">
            <a:avLst>
              <a:gd name="adj" fmla="val 21607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11" name="Shape 0">
            <a:extLst>
              <a:ext uri="{FF2B5EF4-FFF2-40B4-BE49-F238E27FC236}">
                <a16:creationId xmlns:a16="http://schemas.microsoft.com/office/drawing/2014/main" id="{E95B83A0-D5A2-5B02-BCCB-E506B87BF7F0}"/>
              </a:ext>
            </a:extLst>
          </p:cNvPr>
          <p:cNvSpPr/>
          <p:nvPr/>
        </p:nvSpPr>
        <p:spPr>
          <a:xfrm>
            <a:off x="677737" y="1179276"/>
            <a:ext cx="2773644" cy="2129245"/>
          </a:xfrm>
          <a:prstGeom prst="roundRect">
            <a:avLst>
              <a:gd name="adj" fmla="val 21607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2" name="Shape 0"/>
          <p:cNvSpPr/>
          <p:nvPr/>
        </p:nvSpPr>
        <p:spPr>
          <a:xfrm>
            <a:off x="348643" y="313432"/>
            <a:ext cx="2479466" cy="235208"/>
          </a:xfrm>
          <a:prstGeom prst="roundRect">
            <a:avLst>
              <a:gd name="adj" fmla="val 21607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418689" y="338657"/>
            <a:ext cx="2337573" cy="157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ДНИ</a:t>
            </a: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10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4–5</a:t>
            </a: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10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·</a:t>
            </a: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10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МЕДИАПРОИЗВОДСТВО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348643" y="708150"/>
            <a:ext cx="3839802" cy="438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Подкаст и видеомонтаж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967835" y="1424156"/>
            <a:ext cx="2219399" cy="131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chemeClr val="bg1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День 4 — Аудиоподкаст (Audacity)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7" name="Text 4"/>
          <p:cNvSpPr/>
          <p:nvPr/>
        </p:nvSpPr>
        <p:spPr>
          <a:xfrm>
            <a:off x="967835" y="1605578"/>
            <a:ext cx="1899270" cy="5026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Сценарий «Пять правил безопасности при использовании мобильного банка». Запись, шумоподавление, эквалайзер, компрессия. Фоновая музыка (Creative Commons), экспорт в MP3 192 kbps.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9" name="Text 6"/>
          <p:cNvSpPr/>
          <p:nvPr/>
        </p:nvSpPr>
        <p:spPr>
          <a:xfrm>
            <a:off x="5947899" y="2681387"/>
            <a:ext cx="1899270" cy="2629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chemeClr val="bg1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День 5 — Обучающий ролик (CapCut)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0" name="Text 7"/>
          <p:cNvSpPr/>
          <p:nvPr/>
        </p:nvSpPr>
        <p:spPr>
          <a:xfrm>
            <a:off x="5947899" y="3042018"/>
            <a:ext cx="1899270" cy="4021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Скринкаст «Как установить Госуслуги и подтвердить учётную запись». Эффект PiP, Lower Thirds, автоматические субтитры. Экспорт MP4 Full HD 1080p, H.264.</a:t>
            </a:r>
            <a:endParaRPr lang="en-US" sz="1100" dirty="0">
              <a:solidFill>
                <a:schemeClr val="bg1"/>
              </a:solidFill>
            </a:endParaRP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9DC8677C-510F-A758-3662-D7A5DDBA34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101" y="3416268"/>
            <a:ext cx="2450916" cy="115737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97A728DE-B6D9-2DCD-8E5D-27FF0318FF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1064" y="999449"/>
            <a:ext cx="1492941" cy="149294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81831"/>
            <a:ext cx="1789435" cy="213940"/>
          </a:xfrm>
          <a:prstGeom prst="roundRect">
            <a:avLst>
              <a:gd name="adj" fmla="val 19482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570533" y="519038"/>
            <a:ext cx="2097807" cy="1395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75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ДНИ 6–9 · РАЗРАБОТКА И ДЕПЛОЙ</a:t>
            </a:r>
            <a:endParaRPr lang="en-US" sz="750" dirty="0">
              <a:solidFill>
                <a:schemeClr val="bg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496119" y="739155"/>
            <a:ext cx="5605388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Верстка, CMS и публикация сайта</a:t>
            </a:r>
            <a:endParaRPr lang="en-US" sz="2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2407" y="1289447"/>
            <a:ext cx="6339185" cy="290125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56361" y="3387112"/>
            <a:ext cx="1190142" cy="458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День 9: Деплой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756456" y="3387112"/>
            <a:ext cx="1190143" cy="458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День 8: Контент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264702" y="3387112"/>
            <a:ext cx="1190142" cy="458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День 7: WordPress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740341" y="3387112"/>
            <a:ext cx="1190142" cy="458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День 6: HTML/CSS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96119" y="4312741"/>
            <a:ext cx="8151763" cy="3488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Создан адаптивный сайт с виджетом доступности (увеличение шрифта, высокий контраст). Настроена форма обратной связи с валидацией PHP. Опубликована страница «Политика обработки персональных данных» (ФЗ-152). Финальный домен: </a:t>
            </a:r>
            <a:r>
              <a:rPr lang="en-US" sz="9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s953134k.beget.tech</a:t>
            </a:r>
            <a:r>
              <a:rPr lang="en-US" sz="9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Полилиния: фигура 24">
            <a:extLst>
              <a:ext uri="{FF2B5EF4-FFF2-40B4-BE49-F238E27FC236}">
                <a16:creationId xmlns:a16="http://schemas.microsoft.com/office/drawing/2014/main" id="{36D89BA3-8988-7D4A-3BD9-55B833749069}"/>
              </a:ext>
            </a:extLst>
          </p:cNvPr>
          <p:cNvSpPr/>
          <p:nvPr/>
        </p:nvSpPr>
        <p:spPr>
          <a:xfrm>
            <a:off x="418012" y="1196934"/>
            <a:ext cx="4448668" cy="3595280"/>
          </a:xfrm>
          <a:custGeom>
            <a:avLst/>
            <a:gdLst>
              <a:gd name="csX0" fmla="*/ 153985 w 4448668"/>
              <a:gd name="csY0" fmla="*/ 0 h 3595280"/>
              <a:gd name="csX1" fmla="*/ 4294683 w 4448668"/>
              <a:gd name="csY1" fmla="*/ 0 h 3595280"/>
              <a:gd name="csX2" fmla="*/ 4448668 w 4448668"/>
              <a:gd name="csY2" fmla="*/ 153985 h 3595280"/>
              <a:gd name="csX3" fmla="*/ 4448668 w 4448668"/>
              <a:gd name="csY3" fmla="*/ 653274 h 3595280"/>
              <a:gd name="csX4" fmla="*/ 4294683 w 4448668"/>
              <a:gd name="csY4" fmla="*/ 807259 h 3595280"/>
              <a:gd name="csX5" fmla="*/ 2341388 w 4448668"/>
              <a:gd name="csY5" fmla="*/ 807259 h 3595280"/>
              <a:gd name="csX6" fmla="*/ 2341388 w 4448668"/>
              <a:gd name="csY6" fmla="*/ 929213 h 3595280"/>
              <a:gd name="csX7" fmla="*/ 4294683 w 4448668"/>
              <a:gd name="csY7" fmla="*/ 929213 h 3595280"/>
              <a:gd name="csX8" fmla="*/ 4448668 w 4448668"/>
              <a:gd name="csY8" fmla="*/ 1083198 h 3595280"/>
              <a:gd name="csX9" fmla="*/ 4448668 w 4448668"/>
              <a:gd name="csY9" fmla="*/ 1582487 h 3595280"/>
              <a:gd name="csX10" fmla="*/ 4294683 w 4448668"/>
              <a:gd name="csY10" fmla="*/ 1736472 h 3595280"/>
              <a:gd name="csX11" fmla="*/ 2341387 w 4448668"/>
              <a:gd name="csY11" fmla="*/ 1736472 h 3595280"/>
              <a:gd name="csX12" fmla="*/ 2341387 w 4448668"/>
              <a:gd name="csY12" fmla="*/ 1858427 h 3595280"/>
              <a:gd name="csX13" fmla="*/ 4294683 w 4448668"/>
              <a:gd name="csY13" fmla="*/ 1858427 h 3595280"/>
              <a:gd name="csX14" fmla="*/ 4448668 w 4448668"/>
              <a:gd name="csY14" fmla="*/ 2012412 h 3595280"/>
              <a:gd name="csX15" fmla="*/ 4448668 w 4448668"/>
              <a:gd name="csY15" fmla="*/ 2511701 h 3595280"/>
              <a:gd name="csX16" fmla="*/ 4294683 w 4448668"/>
              <a:gd name="csY16" fmla="*/ 2665686 h 3595280"/>
              <a:gd name="csX17" fmla="*/ 2341387 w 4448668"/>
              <a:gd name="csY17" fmla="*/ 2665686 h 3595280"/>
              <a:gd name="csX18" fmla="*/ 2341387 w 4448668"/>
              <a:gd name="csY18" fmla="*/ 2788021 h 3595280"/>
              <a:gd name="csX19" fmla="*/ 4294683 w 4448668"/>
              <a:gd name="csY19" fmla="*/ 2788021 h 3595280"/>
              <a:gd name="csX20" fmla="*/ 4448668 w 4448668"/>
              <a:gd name="csY20" fmla="*/ 2942006 h 3595280"/>
              <a:gd name="csX21" fmla="*/ 4448668 w 4448668"/>
              <a:gd name="csY21" fmla="*/ 3441295 h 3595280"/>
              <a:gd name="csX22" fmla="*/ 4294683 w 4448668"/>
              <a:gd name="csY22" fmla="*/ 3595280 h 3595280"/>
              <a:gd name="csX23" fmla="*/ 153985 w 4448668"/>
              <a:gd name="csY23" fmla="*/ 3595280 h 3595280"/>
              <a:gd name="csX24" fmla="*/ 0 w 4448668"/>
              <a:gd name="csY24" fmla="*/ 3441295 h 3595280"/>
              <a:gd name="csX25" fmla="*/ 0 w 4448668"/>
              <a:gd name="csY25" fmla="*/ 2942006 h 3595280"/>
              <a:gd name="csX26" fmla="*/ 153985 w 4448668"/>
              <a:gd name="csY26" fmla="*/ 2788021 h 3595280"/>
              <a:gd name="csX27" fmla="*/ 2107280 w 4448668"/>
              <a:gd name="csY27" fmla="*/ 2788021 h 3595280"/>
              <a:gd name="csX28" fmla="*/ 2107280 w 4448668"/>
              <a:gd name="csY28" fmla="*/ 2665686 h 3595280"/>
              <a:gd name="csX29" fmla="*/ 153985 w 4448668"/>
              <a:gd name="csY29" fmla="*/ 2665686 h 3595280"/>
              <a:gd name="csX30" fmla="*/ 0 w 4448668"/>
              <a:gd name="csY30" fmla="*/ 2511701 h 3595280"/>
              <a:gd name="csX31" fmla="*/ 0 w 4448668"/>
              <a:gd name="csY31" fmla="*/ 2012412 h 3595280"/>
              <a:gd name="csX32" fmla="*/ 153985 w 4448668"/>
              <a:gd name="csY32" fmla="*/ 1858427 h 3595280"/>
              <a:gd name="csX33" fmla="*/ 2107280 w 4448668"/>
              <a:gd name="csY33" fmla="*/ 1858427 h 3595280"/>
              <a:gd name="csX34" fmla="*/ 2107280 w 4448668"/>
              <a:gd name="csY34" fmla="*/ 1736472 h 3595280"/>
              <a:gd name="csX35" fmla="*/ 153985 w 4448668"/>
              <a:gd name="csY35" fmla="*/ 1736472 h 3595280"/>
              <a:gd name="csX36" fmla="*/ 0 w 4448668"/>
              <a:gd name="csY36" fmla="*/ 1582487 h 3595280"/>
              <a:gd name="csX37" fmla="*/ 0 w 4448668"/>
              <a:gd name="csY37" fmla="*/ 1083198 h 3595280"/>
              <a:gd name="csX38" fmla="*/ 153985 w 4448668"/>
              <a:gd name="csY38" fmla="*/ 929213 h 3595280"/>
              <a:gd name="csX39" fmla="*/ 2107281 w 4448668"/>
              <a:gd name="csY39" fmla="*/ 929213 h 3595280"/>
              <a:gd name="csX40" fmla="*/ 2107281 w 4448668"/>
              <a:gd name="csY40" fmla="*/ 807259 h 3595280"/>
              <a:gd name="csX41" fmla="*/ 153985 w 4448668"/>
              <a:gd name="csY41" fmla="*/ 807259 h 3595280"/>
              <a:gd name="csX42" fmla="*/ 0 w 4448668"/>
              <a:gd name="csY42" fmla="*/ 653274 h 3595280"/>
              <a:gd name="csX43" fmla="*/ 0 w 4448668"/>
              <a:gd name="csY43" fmla="*/ 153985 h 3595280"/>
              <a:gd name="csX44" fmla="*/ 153985 w 4448668"/>
              <a:gd name="csY44" fmla="*/ 0 h 35952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</a:cxnLst>
            <a:rect l="l" t="t" r="r" b="b"/>
            <a:pathLst>
              <a:path w="4448668" h="3595280">
                <a:moveTo>
                  <a:pt x="153985" y="0"/>
                </a:moveTo>
                <a:lnTo>
                  <a:pt x="4294683" y="0"/>
                </a:lnTo>
                <a:cubicBezTo>
                  <a:pt x="4379727" y="0"/>
                  <a:pt x="4448668" y="68941"/>
                  <a:pt x="4448668" y="153985"/>
                </a:cubicBezTo>
                <a:lnTo>
                  <a:pt x="4448668" y="653274"/>
                </a:lnTo>
                <a:cubicBezTo>
                  <a:pt x="4448668" y="738318"/>
                  <a:pt x="4379727" y="807259"/>
                  <a:pt x="4294683" y="807259"/>
                </a:cubicBezTo>
                <a:lnTo>
                  <a:pt x="2341388" y="807259"/>
                </a:lnTo>
                <a:lnTo>
                  <a:pt x="2341388" y="929213"/>
                </a:lnTo>
                <a:lnTo>
                  <a:pt x="4294683" y="929213"/>
                </a:lnTo>
                <a:cubicBezTo>
                  <a:pt x="4379727" y="929213"/>
                  <a:pt x="4448668" y="998154"/>
                  <a:pt x="4448668" y="1083198"/>
                </a:cubicBezTo>
                <a:lnTo>
                  <a:pt x="4448668" y="1582487"/>
                </a:lnTo>
                <a:cubicBezTo>
                  <a:pt x="4448668" y="1667531"/>
                  <a:pt x="4379727" y="1736472"/>
                  <a:pt x="4294683" y="1736472"/>
                </a:cubicBezTo>
                <a:lnTo>
                  <a:pt x="2341387" y="1736472"/>
                </a:lnTo>
                <a:lnTo>
                  <a:pt x="2341387" y="1858427"/>
                </a:lnTo>
                <a:lnTo>
                  <a:pt x="4294683" y="1858427"/>
                </a:lnTo>
                <a:cubicBezTo>
                  <a:pt x="4379727" y="1858427"/>
                  <a:pt x="4448668" y="1927368"/>
                  <a:pt x="4448668" y="2012412"/>
                </a:cubicBezTo>
                <a:lnTo>
                  <a:pt x="4448668" y="2511701"/>
                </a:lnTo>
                <a:cubicBezTo>
                  <a:pt x="4448668" y="2596745"/>
                  <a:pt x="4379727" y="2665686"/>
                  <a:pt x="4294683" y="2665686"/>
                </a:cubicBezTo>
                <a:lnTo>
                  <a:pt x="2341387" y="2665686"/>
                </a:lnTo>
                <a:lnTo>
                  <a:pt x="2341387" y="2788021"/>
                </a:lnTo>
                <a:lnTo>
                  <a:pt x="4294683" y="2788021"/>
                </a:lnTo>
                <a:cubicBezTo>
                  <a:pt x="4379727" y="2788021"/>
                  <a:pt x="4448668" y="2856962"/>
                  <a:pt x="4448668" y="2942006"/>
                </a:cubicBezTo>
                <a:lnTo>
                  <a:pt x="4448668" y="3441295"/>
                </a:lnTo>
                <a:cubicBezTo>
                  <a:pt x="4448668" y="3526339"/>
                  <a:pt x="4379727" y="3595280"/>
                  <a:pt x="4294683" y="3595280"/>
                </a:cubicBezTo>
                <a:lnTo>
                  <a:pt x="153985" y="3595280"/>
                </a:lnTo>
                <a:cubicBezTo>
                  <a:pt x="68941" y="3595280"/>
                  <a:pt x="0" y="3526339"/>
                  <a:pt x="0" y="3441295"/>
                </a:cubicBezTo>
                <a:lnTo>
                  <a:pt x="0" y="2942006"/>
                </a:lnTo>
                <a:cubicBezTo>
                  <a:pt x="0" y="2856962"/>
                  <a:pt x="68941" y="2788021"/>
                  <a:pt x="153985" y="2788021"/>
                </a:cubicBezTo>
                <a:lnTo>
                  <a:pt x="2107280" y="2788021"/>
                </a:lnTo>
                <a:lnTo>
                  <a:pt x="2107280" y="2665686"/>
                </a:lnTo>
                <a:lnTo>
                  <a:pt x="153985" y="2665686"/>
                </a:lnTo>
                <a:cubicBezTo>
                  <a:pt x="68941" y="2665686"/>
                  <a:pt x="0" y="2596745"/>
                  <a:pt x="0" y="2511701"/>
                </a:cubicBezTo>
                <a:lnTo>
                  <a:pt x="0" y="2012412"/>
                </a:lnTo>
                <a:cubicBezTo>
                  <a:pt x="0" y="1927368"/>
                  <a:pt x="68941" y="1858427"/>
                  <a:pt x="153985" y="1858427"/>
                </a:cubicBezTo>
                <a:lnTo>
                  <a:pt x="2107280" y="1858427"/>
                </a:lnTo>
                <a:lnTo>
                  <a:pt x="2107280" y="1736472"/>
                </a:lnTo>
                <a:lnTo>
                  <a:pt x="153985" y="1736472"/>
                </a:lnTo>
                <a:cubicBezTo>
                  <a:pt x="68941" y="1736472"/>
                  <a:pt x="0" y="1667531"/>
                  <a:pt x="0" y="1582487"/>
                </a:cubicBezTo>
                <a:lnTo>
                  <a:pt x="0" y="1083198"/>
                </a:lnTo>
                <a:cubicBezTo>
                  <a:pt x="0" y="998154"/>
                  <a:pt x="68941" y="929213"/>
                  <a:pt x="153985" y="929213"/>
                </a:cubicBezTo>
                <a:lnTo>
                  <a:pt x="2107281" y="929213"/>
                </a:lnTo>
                <a:lnTo>
                  <a:pt x="2107281" y="807259"/>
                </a:lnTo>
                <a:lnTo>
                  <a:pt x="153985" y="807259"/>
                </a:lnTo>
                <a:cubicBezTo>
                  <a:pt x="68941" y="807259"/>
                  <a:pt x="0" y="738318"/>
                  <a:pt x="0" y="653274"/>
                </a:cubicBezTo>
                <a:lnTo>
                  <a:pt x="0" y="153985"/>
                </a:lnTo>
                <a:cubicBezTo>
                  <a:pt x="0" y="68941"/>
                  <a:pt x="68941" y="0"/>
                  <a:pt x="153985" y="0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square">
            <a:noAutofit/>
          </a:bodyPr>
          <a:lstStyle/>
          <a:p>
            <a:endParaRPr lang="ru-RU"/>
          </a:p>
        </p:txBody>
      </p:sp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3550" y="0"/>
            <a:ext cx="360045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96119" y="417761"/>
            <a:ext cx="875481" cy="234107"/>
          </a:xfrm>
          <a:prstGeom prst="roundRect">
            <a:avLst>
              <a:gd name="adj" fmla="val 19075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4" name="Text 1"/>
          <p:cNvSpPr/>
          <p:nvPr/>
        </p:nvSpPr>
        <p:spPr>
          <a:xfrm>
            <a:off x="575816" y="457572"/>
            <a:ext cx="1173287" cy="154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80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ЗАКЛЮЧЕНИЕ</a:t>
            </a:r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5" name="Text 2"/>
          <p:cNvSpPr/>
          <p:nvPr/>
        </p:nvSpPr>
        <p:spPr>
          <a:xfrm>
            <a:off x="496119" y="701650"/>
            <a:ext cx="3779862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Итоги практики</a:t>
            </a:r>
            <a:endParaRPr lang="en-US" sz="2600" dirty="0"/>
          </a:p>
        </p:txBody>
      </p:sp>
      <p:sp>
        <p:nvSpPr>
          <p:cNvPr id="7" name="Text 3"/>
          <p:cNvSpPr/>
          <p:nvPr/>
        </p:nvSpPr>
        <p:spPr>
          <a:xfrm>
            <a:off x="575816" y="1303809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Дизайн и графика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8" name="Text 4"/>
          <p:cNvSpPr/>
          <p:nvPr/>
        </p:nvSpPr>
        <p:spPr>
          <a:xfrm>
            <a:off x="575816" y="1586210"/>
            <a:ext cx="4290864" cy="3862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Освоены Figma, Adobe Illustrator и Photoshop для разработки визуального стиля проекта.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0" name="Text 5"/>
          <p:cNvSpPr/>
          <p:nvPr/>
        </p:nvSpPr>
        <p:spPr>
          <a:xfrm>
            <a:off x="575816" y="2221557"/>
            <a:ext cx="167022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Медиапроизводство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11" name="Text 6"/>
          <p:cNvSpPr/>
          <p:nvPr/>
        </p:nvSpPr>
        <p:spPr>
          <a:xfrm>
            <a:off x="575816" y="2503959"/>
            <a:ext cx="4290864" cy="3862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Создан аудиоподкаст и смонтирован видеоролик с субтитрами по теме мобильных сервисов.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3" name="Text 7"/>
          <p:cNvSpPr/>
          <p:nvPr/>
        </p:nvSpPr>
        <p:spPr>
          <a:xfrm>
            <a:off x="575816" y="3139306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Веб-разработка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14" name="Text 8"/>
          <p:cNvSpPr/>
          <p:nvPr/>
        </p:nvSpPr>
        <p:spPr>
          <a:xfrm>
            <a:off x="575816" y="3421707"/>
            <a:ext cx="4290864" cy="3862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HTML5/CSS3, OpenServer, WordPress + Elementor, MySQL — полный цикл от верстки до CMS.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6" name="Text 9"/>
          <p:cNvSpPr/>
          <p:nvPr/>
        </p:nvSpPr>
        <p:spPr>
          <a:xfrm>
            <a:off x="575816" y="4057055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Деплой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17" name="Text 10"/>
          <p:cNvSpPr/>
          <p:nvPr/>
        </p:nvSpPr>
        <p:spPr>
          <a:xfrm>
            <a:off x="575816" y="4339456"/>
            <a:ext cx="4290864" cy="3862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Публикация на хостинге Beget, работа с FileZilla (FTP), GitHub и соблюдение ФЗ-152.</a:t>
            </a:r>
            <a:endParaRPr lang="en-US" sz="1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</TotalTime>
  <Words>697</Words>
  <Application>Microsoft Office PowerPoint</Application>
  <PresentationFormat>Экран (16:9)</PresentationFormat>
  <Paragraphs>94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6" baseType="lpstr">
      <vt:lpstr>Roboto</vt:lpstr>
      <vt:lpstr>Arial</vt:lpstr>
      <vt:lpstr>Host Grotesk Medium</vt:lpstr>
      <vt:lpstr>Aptos Display</vt:lpstr>
      <vt:lpstr>Aptos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matvey mikrukov</cp:lastModifiedBy>
  <cp:revision>2</cp:revision>
  <dcterms:created xsi:type="dcterms:W3CDTF">2026-06-16T03:12:42Z</dcterms:created>
  <dcterms:modified xsi:type="dcterms:W3CDTF">2026-06-16T03:34:37Z</dcterms:modified>
</cp:coreProperties>
</file>